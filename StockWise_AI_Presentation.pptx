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Extra units sold</c:v>
                </c:pt>
              </c:strCache>
            </c:strRef>
          </c:tx>
          <c:spPr>
            <a:solidFill>
              <a:srgbClr val="14B8A6"/>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cat>
            <c:multiLvlStrRef>
              <c:f>Sheet1!$A$2:$A$5</c:f>
              <c:multiLvlStrCache>
                <c:ptCount val="4"/>
                <c:lvl>
                  <c:pt idx="0">
                    <c:v>Weekend</c:v>
                  </c:pt>
                  <c:pt idx="1">
                    <c:v>Pay-day</c:v>
                  </c:pt>
                  <c:pt idx="2">
                    <c:v>Promotion</c:v>
                  </c:pt>
                  <c:pt idx="3">
                    <c:v>Holiday (Eid)</c:v>
                  </c:pt>
                </c:lvl>
              </c:multiLvlStrCache>
            </c:multiLvlStrRef>
          </c:cat>
          <c:val>
            <c:numRef>
              <c:f>Sheet1!$B$2:$B$5</c:f>
              <c:numCache>
                <c:formatCode>General</c:formatCode>
                <c:ptCount val="4"/>
                <c:pt idx="0">
                  <c:v>25</c:v>
                </c:pt>
                <c:pt idx="1">
                  <c:v>31</c:v>
                </c:pt>
                <c:pt idx="2">
                  <c:v>41</c:v>
                </c:pt>
                <c:pt idx="3">
                  <c:v>76</c:v>
                </c:pt>
              </c:numCache>
            </c:numRef>
          </c:val>
        </c:ser>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 sales</c:v>
                </c:pt>
              </c:strCache>
            </c:strRef>
          </c:tx>
          <c:spPr>
            <a:solidFill>
              <a:srgbClr val="F59E0B"/>
            </a:solidFill>
            <a:ln w="3810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9E0B"/>
              </a:solidFill>
              <a:ln w="9525" cap="flat">
                <a:solidFill>
                  <a:srgbClr val="F59E0B"/>
                </a:solidFill>
                <a:prstDash val="solid"/>
                <a:round/>
              </a:ln>
              <a:effectLst/>
            </c:spPr>
          </c:marker>
          <c:cat>
            <c:multiLvlStrRef>
              <c:f>Sheet1!$A$2:$A$15</c:f>
              <c:multiLvlStrCache>
                <c:ptCount val="14"/>
                <c:lvl>
                  <c:pt idx="0">
                    <c:v>D1</c:v>
                  </c:pt>
                  <c:pt idx="1">
                    <c:v>D2</c:v>
                  </c:pt>
                  <c:pt idx="2">
                    <c:v>D3</c:v>
                  </c:pt>
                  <c:pt idx="3">
                    <c:v>D4</c:v>
                  </c:pt>
                  <c:pt idx="4">
                    <c:v>D5</c:v>
                  </c:pt>
                  <c:pt idx="5">
                    <c:v>D6</c:v>
                  </c:pt>
                  <c:pt idx="6">
                    <c:v>D7</c:v>
                  </c:pt>
                  <c:pt idx="7">
                    <c:v>D8</c:v>
                  </c:pt>
                  <c:pt idx="8">
                    <c:v>D9</c:v>
                  </c:pt>
                  <c:pt idx="9">
                    <c:v>D10</c:v>
                  </c:pt>
                  <c:pt idx="10">
                    <c:v>D11</c:v>
                  </c:pt>
                  <c:pt idx="11">
                    <c:v>D12</c:v>
                  </c:pt>
                  <c:pt idx="12">
                    <c:v>D13</c:v>
                  </c:pt>
                  <c:pt idx="13">
                    <c:v>D14</c:v>
                  </c:pt>
                </c:lvl>
              </c:multiLvlStrCache>
            </c:multiLvlStrRef>
          </c:cat>
          <c:val>
            <c:numRef>
              <c:f>Sheet1!$B$2:$B$15</c:f>
              <c:numCache>
                <c:formatCode>General</c:formatCode>
                <c:ptCount val="14"/>
                <c:pt idx="0">
                  <c:v>156</c:v>
                </c:pt>
                <c:pt idx="1">
                  <c:v>114</c:v>
                </c:pt>
                <c:pt idx="2">
                  <c:v>108</c:v>
                </c:pt>
                <c:pt idx="3">
                  <c:v>153</c:v>
                </c:pt>
                <c:pt idx="4">
                  <c:v>115</c:v>
                </c:pt>
                <c:pt idx="5">
                  <c:v>112</c:v>
                </c:pt>
                <c:pt idx="6">
                  <c:v>190</c:v>
                </c:pt>
                <c:pt idx="7">
                  <c:v>150</c:v>
                </c:pt>
                <c:pt idx="8">
                  <c:v>120</c:v>
                </c:pt>
                <c:pt idx="9">
                  <c:v>208</c:v>
                </c:pt>
                <c:pt idx="10">
                  <c:v>101</c:v>
                </c:pt>
                <c:pt idx="11">
                  <c:v>118</c:v>
                </c:pt>
                <c:pt idx="12">
                  <c:v>127</c:v>
                </c:pt>
                <c:pt idx="13">
                  <c:v>147</c:v>
                </c:pt>
              </c:numCache>
            </c:numRef>
          </c:val>
          <c:smooth val="1"/>
        </c:ser>
        <c:ser>
          <c:idx val="1"/>
          <c:order val="1"/>
          <c:tx>
            <c:strRef>
              <c:f>Sheet1!$C$1</c:f>
              <c:strCache>
                <c:ptCount val="1"/>
                <c:pt idx="0">
                  <c:v>StockWise forecast</c:v>
                </c:pt>
              </c:strCache>
            </c:strRef>
          </c:tx>
          <c:spPr>
            <a:solidFill>
              <a:srgbClr val="0F5132"/>
            </a:solidFill>
            <a:ln w="38100" cap="flat">
              <a:solidFill>
                <a:srgbClr val="0F513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5132"/>
              </a:solidFill>
              <a:ln w="9525" cap="flat">
                <a:solidFill>
                  <a:srgbClr val="0F5132"/>
                </a:solidFill>
                <a:prstDash val="solid"/>
                <a:round/>
              </a:ln>
              <a:effectLst/>
            </c:spPr>
          </c:marker>
          <c:cat>
            <c:multiLvlStrRef>
              <c:f>Sheet1!$A$2:$A$15</c:f>
              <c:multiLvlStrCache>
                <c:ptCount val="14"/>
                <c:lvl>
                  <c:pt idx="0">
                    <c:v>D1</c:v>
                  </c:pt>
                  <c:pt idx="1">
                    <c:v>D2</c:v>
                  </c:pt>
                  <c:pt idx="2">
                    <c:v>D3</c:v>
                  </c:pt>
                  <c:pt idx="3">
                    <c:v>D4</c:v>
                  </c:pt>
                  <c:pt idx="4">
                    <c:v>D5</c:v>
                  </c:pt>
                  <c:pt idx="5">
                    <c:v>D6</c:v>
                  </c:pt>
                  <c:pt idx="6">
                    <c:v>D7</c:v>
                  </c:pt>
                  <c:pt idx="7">
                    <c:v>D8</c:v>
                  </c:pt>
                  <c:pt idx="8">
                    <c:v>D9</c:v>
                  </c:pt>
                  <c:pt idx="9">
                    <c:v>D10</c:v>
                  </c:pt>
                  <c:pt idx="10">
                    <c:v>D11</c:v>
                  </c:pt>
                  <c:pt idx="11">
                    <c:v>D12</c:v>
                  </c:pt>
                  <c:pt idx="12">
                    <c:v>D13</c:v>
                  </c:pt>
                  <c:pt idx="13">
                    <c:v>D14</c:v>
                  </c:pt>
                </c:lvl>
              </c:multiLvlStrCache>
            </c:multiLvlStrRef>
          </c:cat>
          <c:val>
            <c:numRef>
              <c:f>Sheet1!$C$2:$C$15</c:f>
              <c:numCache>
                <c:formatCode>General</c:formatCode>
                <c:ptCount val="14"/>
                <c:pt idx="0">
                  <c:v>143</c:v>
                </c:pt>
                <c:pt idx="1">
                  <c:v>117</c:v>
                </c:pt>
                <c:pt idx="2">
                  <c:v>116</c:v>
                </c:pt>
                <c:pt idx="3">
                  <c:v>144</c:v>
                </c:pt>
                <c:pt idx="4">
                  <c:v>121</c:v>
                </c:pt>
                <c:pt idx="5">
                  <c:v>120</c:v>
                </c:pt>
                <c:pt idx="6">
                  <c:v>175</c:v>
                </c:pt>
                <c:pt idx="7">
                  <c:v>138</c:v>
                </c:pt>
                <c:pt idx="8">
                  <c:v>116</c:v>
                </c:pt>
                <c:pt idx="9">
                  <c:v>186</c:v>
                </c:pt>
                <c:pt idx="10">
                  <c:v>114</c:v>
                </c:pt>
                <c:pt idx="11">
                  <c:v>117</c:v>
                </c:pt>
                <c:pt idx="12">
                  <c:v>120</c:v>
                </c:pt>
                <c:pt idx="13">
                  <c:v>139</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EF2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E293B"/>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9E0B"/>
              </a:solidFill>
              <a:ln w="9525" cap="flat">
                <a:solidFill>
                  <a:srgbClr val="F59E0B"/>
                </a:solidFill>
                <a:prstDash val="solid"/>
                <a:round/>
              </a:ln>
              <a:effectLst/>
            </c:spPr>
          </c:marker>
          <c:cat>
            <c:multiLvlStrRef>
              <c:f>Sheet1!$A$2:$A$9</c:f>
              <c:multiLvlStrCache>
                <c:ptCount val="8"/>
                <c:lvl>
                  <c:pt idx="0">
                    <c:v>1</c:v>
                  </c:pt>
                  <c:pt idx="1">
                    <c:v>2</c:v>
                  </c:pt>
                  <c:pt idx="2">
                    <c:v>3</c:v>
                  </c:pt>
                  <c:pt idx="3">
                    <c:v>4</c:v>
                  </c:pt>
                  <c:pt idx="4">
                    <c:v>5</c:v>
                  </c:pt>
                  <c:pt idx="5">
                    <c:v>6</c:v>
                  </c:pt>
                  <c:pt idx="6">
                    <c:v>7</c:v>
                  </c:pt>
                  <c:pt idx="7">
                    <c:v>8</c:v>
                  </c:pt>
                </c:lvl>
              </c:multiLvlStrCache>
            </c:multiLvlStrRef>
          </c:cat>
          <c:val>
            <c:numRef>
              <c:f>Sheet1!$B$2:$B$9</c:f>
              <c:numCache>
                <c:formatCode>General</c:formatCode>
                <c:ptCount val="8"/>
                <c:pt idx="0">
                  <c:v>156</c:v>
                </c:pt>
                <c:pt idx="1">
                  <c:v>114</c:v>
                </c:pt>
                <c:pt idx="2">
                  <c:v>153</c:v>
                </c:pt>
                <c:pt idx="3">
                  <c:v>112</c:v>
                </c:pt>
                <c:pt idx="4">
                  <c:v>190</c:v>
                </c:pt>
                <c:pt idx="5">
                  <c:v>120</c:v>
                </c:pt>
                <c:pt idx="6">
                  <c:v>208</c:v>
                </c:pt>
                <c:pt idx="7">
                  <c:v>118</c:v>
                </c:pt>
              </c:numCache>
            </c:numRef>
          </c:val>
          <c:smooth val="1"/>
        </c:ser>
        <c:ser>
          <c:idx val="1"/>
          <c:order val="1"/>
          <c:tx>
            <c:strRef>
              <c:f>Sheet1!$C$1</c:f>
              <c:strCache>
                <c:ptCount val="1"/>
                <c:pt idx="0">
                  <c:v>forecast</c:v>
                </c:pt>
              </c:strCache>
            </c:strRef>
          </c:tx>
          <c:spPr>
            <a:solidFill>
              <a:srgbClr val="0F5132"/>
            </a:solidFill>
            <a:ln w="25400" cap="flat">
              <a:solidFill>
                <a:srgbClr val="0F513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5132"/>
              </a:solidFill>
              <a:ln w="9525" cap="flat">
                <a:solidFill>
                  <a:srgbClr val="0F5132"/>
                </a:solidFill>
                <a:prstDash val="solid"/>
                <a:round/>
              </a:ln>
              <a:effectLst/>
            </c:spPr>
          </c:marker>
          <c:cat>
            <c:multiLvlStrRef>
              <c:f>Sheet1!$A$2:$A$9</c:f>
              <c:multiLvlStrCache>
                <c:ptCount val="8"/>
                <c:lvl>
                  <c:pt idx="0">
                    <c:v>1</c:v>
                  </c:pt>
                  <c:pt idx="1">
                    <c:v>2</c:v>
                  </c:pt>
                  <c:pt idx="2">
                    <c:v>3</c:v>
                  </c:pt>
                  <c:pt idx="3">
                    <c:v>4</c:v>
                  </c:pt>
                  <c:pt idx="4">
                    <c:v>5</c:v>
                  </c:pt>
                  <c:pt idx="5">
                    <c:v>6</c:v>
                  </c:pt>
                  <c:pt idx="6">
                    <c:v>7</c:v>
                  </c:pt>
                  <c:pt idx="7">
                    <c:v>8</c:v>
                  </c:pt>
                </c:lvl>
              </c:multiLvlStrCache>
            </c:multiLvlStrRef>
          </c:cat>
          <c:val>
            <c:numRef>
              <c:f>Sheet1!$C$2:$C$9</c:f>
              <c:numCache>
                <c:formatCode>General</c:formatCode>
                <c:ptCount val="8"/>
                <c:pt idx="0">
                  <c:v>143</c:v>
                </c:pt>
                <c:pt idx="1">
                  <c:v>117</c:v>
                </c:pt>
                <c:pt idx="2">
                  <c:v>144</c:v>
                </c:pt>
                <c:pt idx="3">
                  <c:v>120</c:v>
                </c:pt>
                <c:pt idx="4">
                  <c:v>175</c:v>
                </c:pt>
                <c:pt idx="5">
                  <c:v>116</c:v>
                </c:pt>
                <c:pt idx="6">
                  <c:v>186</c:v>
                </c:pt>
                <c:pt idx="7">
                  <c:v>117</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(Member 1, opens). Good morning everyone. Our project is StockWise AI — a deep learning system that forecasts daily product demand for a UAE grocery retailer and automatically tells the store WHAT to reorder and HOW MUCH. We use LSTM, a type of recurrent neural network built for time-series data. Over the next 10 minutes the four of us will walk you through the problem, our model, results, and the business value. Let's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(Member 1). Here's our flow for today and who covers what. I'll take the problem and the data, Member 2 covers the LSTM model, Member 3 handles evaluation and the decision engine, and Member 4 covers deployment and the live impact numbers. Each of us owns one part end-to-end.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(Member 1). The core pain is simple. A grocery retailer loses money in two opposite directions at the same time. Overstock means fresh food expires and gets binned. Stockouts mean the customer can't find what they want and leaves for a competitor. Today most stores set reorder levels by gut feeling or a simple average. Globally this waste is enormous — roughly a trillion dollars a year. Even 8 to 10 percent of grocery revenue is locked in spoilage and dead stock. And one in three shoppers will walk out if their item is missing. That is the gap StockWise AI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(Member 2) takes over. Why not just use an average? Because demand is a time sequence with memory. Sales today depend on what happened yesterday, on the day of the week, on pay-day, on Ramadan, even on the weather. A moving average or a straight line throws that memory away. LSTM — Long Short-Term Memory — is a recurrent neural network designed exactly for this. It carries a memory state across the sequence, so it learns weekly cycles, holiday spikes, and growth trends automatically. That's why it beats the traditional methods on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(Member 2). In one sentence: StockWise AI turns sales history into a daily reorder instruction. It does four things. One, it forecasts the next seven days of demand per product using the LSTM. Two, a decision engine turns that number into a clear action — approve current stock, reorder, or urgent reorder. Three, that protects margin by cutting both spoilage and lost sales. Four, it's trained per product per store, because a beach branch in Dubai Marina sells very differently from one in Deira.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(Member 2). Here's the full pipeline. Stage one, the data layer — point-of-sale sales joined with calendar, weather and promotion flags. Stage two, preprocessing — we clean and scale the data and reshape it into 30-day windows. Stage three, the LSTM model forecasts the next seven days. Stage four, the decision engine applies business rules to turn that forecast into an action. Stage five, a Streamlit dashboard shows the manager what to reorder, with alerts. Our stack is all standard Python — TensorFlow/Keras for the model, FastAPI to serve it, Streamlit for the front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(Member 1). Real retail sales data is confidential, so we generated a synthetic dataset that follows the real schema. It's two years of daily sales — 20 products across 3 Dubai stores, about 44,000 rows. Each row has the date, what sold, and the signals that drive demand: weekend, pay-day, holiday like Eid, promotions, and temperature. We built it with NumPy as a base demand level plus weekly and yearly seasonality, plus event spikes, plus noise — so it behaves like real grocery demand. We split 80/20 by time, so we always test on the future, never the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(Member 1). Before modelling, we explored the data to confirm the patterns are real. This chart shows the average extra units each event adds versus a normal day: weekends add about 25 units, pay-days 31, promotions 41, and an Eid holiday a massive 76. And these stack — an Eid weekend with a promotion can nearly double demand. That's exactly why a single average fails: it over-orders on quiet days and runs out on the spikes. An LSTM, by contrast, can learn all of these signals together. That sets up why Yash chose the model he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(Member 2). This is the actual network. The input is a 30-day window with 8 features per day. That feeds two stacked LSTM layers — 64 units then 32 — each with 20 percent dropout so it doesn't memorise the training data. Then a small dense layer learns non-linear combinations, and a final single neuron outputs the predicted units sold for the next day. On the right is our training setup: mean squared error loss, the Adam optimiser, MinMax scaling, and EarlyStopping to avoid overfitting. It's a compact model — about 28,000 parameters — which trains in a couple of minutes on a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ATHARVA (Member 3) takes over. Our method was six steps. One, generate and explore the data — we plotted it to confirm the seasonality and spikes are there. Two, preprocess — scale everything 0 to 1 and build the sliding windows. Three, train the LSTM with EarlyStopping. Four, evaluate on data the model has never seen, using RMSE, MAE and MAPE. Five, the decision engine — turn the forecast plus a safety buffer into a clear reorder action. Six, deploy and demo through FastAPI and Streamlit. Steps four and five are where the business value actually appears, so let me show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ATHARVA (Member 3). Here are the numbers. The orange line is what actually sold; the green line is what StockWise predicted — and you can see it tracks the real demand closely, including the weekend and holiday peaks. On the right are the metrics on unseen data. The average error is about 6 units (MAE) and the mean percentage error is under 5 percent. The R-squared of 0.86 means the model explains about 86 percent of the variation in demand. For grocery planning, single-digit percentage error is strong — it's accurate enough to trust for reordering. Note: these are representative results from our runs; the exact figures depend on the random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ATHARVA (Member 3). The forecast becomes a decision with one simple, explainable formula: reorder need equals predicted demand over the next seven days, plus a safety buffer, minus what's on the shelf right now. The engine then outputs one of three verdicts. If stock already covers demand plus buffer — APPROVE, do nothing. If there's a shortfall — REORDER, and it suggests the exact quantity. If the shortfall is large and stock is almost gone — URGENT, flag it for same-day delivery. Because the rules are transparent, a store manager can trust and audit every recommendation — which matters far more than a black box in retail.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This is the part a non-technical manager touches. We wrapped the model in a Streamlit dashboard. The manager picks a product and store, sees the seven-day forecast against actual sales, and gets an instant verdict — approve, reorder, or urgent — with a suggested quantity. The sliders let them set current stock and safety buffer and the recommendation updates live. The KPI chips at the top keep the model's accuracy visible so they know how much to trust it. Everything you see here is running off the real trained model in our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takes over. So what does this accuracy buy the business? Forecast-driven reordering typically cuts spoilage by around 30 percent and stockouts by around 40 percent — fewer bins of expired milk, and popular items staying on the shelf. That frees working capital and lifts margin by roughly 12 percent. And it runs in under two minutes for every product in every store, each morning before opening. These are illustrative figures drawn from published grocery-retail benchmarks, but the direction is clear: better forecasts directly protect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We want to be honest about the limits. Our data is synthetic, so real point-of-sale data will be messier. No model predicts true black-swan events. Brand-new products have no history — the cold-start problem. And it forecasts demand, not supplier delays. For future work, the big one ties back to our deep-learning syllabus: add a CNN that reads shelf images to count stock automatically, so the system sees the shelf instead of trusting the database. Beyond that — a Transformer for longer horizons, auto-sending purchase orders to suppliers, and price optimisation on top of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(closes). To wrap up: LSTM turns messy sales history into accurate seven-day forecasts at around six percent error. A simple, explainable rule engine turns those forecasts into clear reorder actions. And the result is a real business win — less waste, fewer stockouts, healthier margins. Thank you — we're happy to take questions. (Be ready for: Why LSTM over ARIMA? How do you handle a new product? What if the forecast is wrong? See our viva prep.)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5132"/>
        </a:solidFill>
      </p:bgPr>
    </p:bg>
    <p:spTree>
      <p:nvGrpSpPr>
        <p:cNvPr id="1" name=""/>
        <p:cNvGrpSpPr/>
        <p:nvPr/>
      </p:nvGrpSpPr>
      <p:grpSpPr>
        <a:xfrm>
          <a:off x="0" y="0"/>
          <a:ext cx="0" cy="0"/>
          <a:chOff x="0" y="0"/>
          <a:chExt cx="0" cy="0"/>
        </a:xfrm>
      </p:grpSpPr>
      <p:sp>
        <p:nvSpPr>
          <p:cNvPr id="2" name="Shape 0"/>
          <p:cNvSpPr/>
          <p:nvPr/>
        </p:nvSpPr>
        <p:spPr>
          <a:xfrm>
            <a:off x="7680960" y="-1005840"/>
            <a:ext cx="2743200" cy="2743200"/>
          </a:xfrm>
          <a:prstGeom prst="ellipse">
            <a:avLst/>
          </a:prstGeom>
          <a:solidFill>
            <a:srgbClr val="157347"/>
          </a:solidFill>
          <a:ln/>
        </p:spPr>
      </p:sp>
      <p:sp>
        <p:nvSpPr>
          <p:cNvPr id="3" name="Shape 1"/>
          <p:cNvSpPr/>
          <p:nvPr/>
        </p:nvSpPr>
        <p:spPr>
          <a:xfrm>
            <a:off x="8229600" y="3566160"/>
            <a:ext cx="2194560" cy="2194560"/>
          </a:xfrm>
          <a:prstGeom prst="ellipse">
            <a:avLst/>
          </a:prstGeom>
          <a:solidFill>
            <a:srgbClr val="14B8A6">
              <a:alpha val="40000"/>
            </a:srgbClr>
          </a:solidFill>
          <a:ln/>
        </p:spPr>
      </p:sp>
      <p:sp>
        <p:nvSpPr>
          <p:cNvPr id="4" name="Shape 2"/>
          <p:cNvSpPr/>
          <p:nvPr/>
        </p:nvSpPr>
        <p:spPr>
          <a:xfrm>
            <a:off x="548640" y="502920"/>
            <a:ext cx="914400" cy="914400"/>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786384" y="740664"/>
            <a:ext cx="438912" cy="438912"/>
          </a:xfrm>
          <a:prstGeom prst="rect">
            <a:avLst/>
          </a:prstGeom>
        </p:spPr>
      </p:pic>
      <p:sp>
        <p:nvSpPr>
          <p:cNvPr id="6" name="Text 3"/>
          <p:cNvSpPr/>
          <p:nvPr/>
        </p:nvSpPr>
        <p:spPr>
          <a:xfrm>
            <a:off x="1600200" y="658368"/>
            <a:ext cx="6583680" cy="36576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DEEP LEARNING  ·  MAIB  ·  SEPT 2025  ·  TERM 3</a:t>
            </a:r>
            <a:endParaRPr lang="en-US" sz="1200" dirty="0"/>
          </a:p>
        </p:txBody>
      </p:sp>
      <p:sp>
        <p:nvSpPr>
          <p:cNvPr id="7" name="Text 4"/>
          <p:cNvSpPr/>
          <p:nvPr/>
        </p:nvSpPr>
        <p:spPr>
          <a:xfrm>
            <a:off x="548640" y="1691640"/>
            <a:ext cx="786384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StockWise AI</a:t>
            </a:r>
            <a:endParaRPr lang="en-US" sz="6000" dirty="0"/>
          </a:p>
        </p:txBody>
      </p:sp>
      <p:sp>
        <p:nvSpPr>
          <p:cNvPr id="8" name="Text 5"/>
          <p:cNvSpPr/>
          <p:nvPr/>
        </p:nvSpPr>
        <p:spPr>
          <a:xfrm>
            <a:off x="566928" y="2743200"/>
            <a:ext cx="7498080" cy="731520"/>
          </a:xfrm>
          <a:prstGeom prst="rect">
            <a:avLst/>
          </a:prstGeom>
          <a:noFill/>
          <a:ln/>
        </p:spPr>
        <p:txBody>
          <a:bodyPr wrap="square" lIns="0" tIns="0" rIns="0" bIns="0" rtlCol="0" anchor="ctr"/>
          <a:lstStyle/>
          <a:p>
            <a:pPr indent="0" marL="0">
              <a:buNone/>
            </a:pPr>
            <a:r>
              <a:rPr lang="en-US" sz="1900" i="1" dirty="0">
                <a:solidFill>
                  <a:srgbClr val="D1FAE5"/>
                </a:solidFill>
                <a:latin typeface="Calibri" pitchFamily="34" charset="0"/>
                <a:ea typeface="Calibri" pitchFamily="34" charset="-122"/>
                <a:cs typeface="Calibri" pitchFamily="34" charset="-120"/>
              </a:rPr>
              <a:t>Smart Demand Forecasting &amp; Automated Reorder Engine for a UAE Grocery Retailer</a:t>
            </a:r>
            <a:endParaRPr lang="en-US" sz="1900" dirty="0"/>
          </a:p>
        </p:txBody>
      </p:sp>
      <p:sp>
        <p:nvSpPr>
          <p:cNvPr id="9" name="Text 6"/>
          <p:cNvSpPr/>
          <p:nvPr/>
        </p:nvSpPr>
        <p:spPr>
          <a:xfrm>
            <a:off x="566928" y="3520440"/>
            <a:ext cx="7772400" cy="365760"/>
          </a:xfrm>
          <a:prstGeom prst="rect">
            <a:avLst/>
          </a:prstGeom>
          <a:noFill/>
          <a:ln/>
        </p:spPr>
        <p:txBody>
          <a:bodyPr wrap="square" lIns="0" tIns="0" rIns="0" bIns="0" rtlCol="0" anchor="ctr"/>
          <a:lstStyle/>
          <a:p>
            <a:pPr indent="0" marL="0">
              <a:buNone/>
            </a:pPr>
            <a:r>
              <a:rPr lang="en-US" sz="1400" dirty="0">
                <a:solidFill>
                  <a:srgbClr val="D1FAE5"/>
                </a:solidFill>
                <a:latin typeface="Calibri" pitchFamily="34" charset="0"/>
                <a:ea typeface="Calibri" pitchFamily="34" charset="-122"/>
                <a:cs typeface="Calibri" pitchFamily="34" charset="-120"/>
              </a:rPr>
              <a:t>Powered by </a:t>
            </a:r>
            <a:pPr indent="0" marL="0">
              <a:buNone/>
            </a:pPr>
            <a:r>
              <a:rPr lang="en-US" sz="1400" b="1" dirty="0">
                <a:solidFill>
                  <a:srgbClr val="F59E0B"/>
                </a:solidFill>
                <a:latin typeface="Calibri" pitchFamily="34" charset="0"/>
                <a:ea typeface="Calibri" pitchFamily="34" charset="-122"/>
                <a:cs typeface="Calibri" pitchFamily="34" charset="-120"/>
              </a:rPr>
              <a:t>LSTM Recurrent Neural Networks</a:t>
            </a:r>
            <a:pPr indent="0" marL="0">
              <a:buNone/>
            </a:pPr>
            <a:r>
              <a:rPr lang="en-US" sz="1400" dirty="0">
                <a:solidFill>
                  <a:srgbClr val="D1FAE5"/>
                </a:solidFill>
                <a:latin typeface="Calibri" pitchFamily="34" charset="0"/>
                <a:ea typeface="Calibri" pitchFamily="34" charset="-122"/>
                <a:cs typeface="Calibri" pitchFamily="34" charset="-120"/>
              </a:rPr>
              <a:t>  +  </a:t>
            </a:r>
            <a:pPr indent="0" marL="0">
              <a:buNone/>
            </a:pPr>
            <a:r>
              <a:rPr lang="en-US" sz="1400" b="1" dirty="0">
                <a:solidFill>
                  <a:srgbClr val="2DD4BF"/>
                </a:solidFill>
                <a:latin typeface="Calibri" pitchFamily="34" charset="0"/>
                <a:ea typeface="Calibri" pitchFamily="34" charset="-122"/>
                <a:cs typeface="Calibri" pitchFamily="34" charset="-120"/>
              </a:rPr>
              <a:t>CNN (extension)</a:t>
            </a:r>
            <a:endParaRPr lang="en-US" sz="1400" dirty="0"/>
          </a:p>
        </p:txBody>
      </p:sp>
      <p:sp>
        <p:nvSpPr>
          <p:cNvPr id="10" name="Text 7"/>
          <p:cNvSpPr/>
          <p:nvPr/>
        </p:nvSpPr>
        <p:spPr>
          <a:xfrm>
            <a:off x="566928" y="4315968"/>
            <a:ext cx="8229600" cy="365760"/>
          </a:xfrm>
          <a:prstGeom prst="rect">
            <a:avLst/>
          </a:prstGeom>
          <a:noFill/>
          <a:ln/>
        </p:spPr>
        <p:txBody>
          <a:bodyPr wrap="square" lIns="0" tIns="0" rIns="0" bIns="0" rtlCol="0" anchor="ctr"/>
          <a:lstStyle/>
          <a:p>
            <a:pPr indent="0" marL="0">
              <a:buNone/>
            </a:pPr>
            <a:r>
              <a:rPr lang="en-US" sz="1250" b="1" dirty="0">
                <a:solidFill>
                  <a:srgbClr val="C9F2E2"/>
                </a:solidFill>
                <a:latin typeface="Calibri" pitchFamily="34" charset="0"/>
                <a:ea typeface="Calibri" pitchFamily="34" charset="-122"/>
                <a:cs typeface="Calibri" pitchFamily="34" charset="-120"/>
              </a:rPr>
              <a:t>Krishna Mathur  ·  Yash Petkar  ·  Atharva Soundankar  ·  (Member 4)</a:t>
            </a:r>
            <a:pPr indent="0" marL="0">
              <a:buNone/>
            </a:pPr>
            <a:r>
              <a:rPr lang="en-US" sz="1250" dirty="0">
                <a:solidFill>
                  <a:srgbClr val="7FD8BD"/>
                </a:solidFill>
                <a:latin typeface="Calibri" pitchFamily="34" charset="0"/>
                <a:ea typeface="Calibri" pitchFamily="34" charset="-122"/>
                <a:cs typeface="Calibri" pitchFamily="34" charset="-120"/>
              </a:rPr>
              <a:t>        GreenCart UAE — case study</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lIns="0" tIns="0" rIns="0" bIns="0" rtlCol="0" anchor="ctr"/>
          <a:lstStyle/>
          <a:p>
            <a:pPr indent="0" marL="0">
              <a:buNone/>
            </a:pPr>
            <a:r>
              <a:rPr lang="en-US" sz="3400" b="1" dirty="0">
                <a:solidFill>
                  <a:srgbClr val="0F5132"/>
                </a:solidFill>
                <a:latin typeface="Cambria" pitchFamily="34" charset="0"/>
                <a:ea typeface="Cambria" pitchFamily="34" charset="-122"/>
                <a:cs typeface="Cambria" pitchFamily="34" charset="-120"/>
              </a:rPr>
              <a:t>Agenda &amp; Team Roles</a:t>
            </a:r>
            <a:endParaRPr lang="en-US" sz="3400" dirty="0"/>
          </a:p>
        </p:txBody>
      </p:sp>
      <p:sp>
        <p:nvSpPr>
          <p:cNvPr id="3" name="Shape 1"/>
          <p:cNvSpPr/>
          <p:nvPr/>
        </p:nvSpPr>
        <p:spPr>
          <a:xfrm>
            <a:off x="548640" y="1325880"/>
            <a:ext cx="4069080" cy="841248"/>
          </a:xfrm>
          <a:prstGeom prst="roundRect">
            <a:avLst>
              <a:gd name="adj" fmla="val 8696"/>
            </a:avLst>
          </a:prstGeom>
          <a:solidFill>
            <a:srgbClr val="F6FBF8"/>
          </a:solidFill>
          <a:ln/>
          <a:effectLst>
            <a:outerShdw sx="100000" sy="100000" kx="0" ky="0" algn="bl" rotWithShape="0" blurRad="88900" dist="38100" dir="5400000">
              <a:srgbClr val="000000">
                <a:alpha val="12000"/>
              </a:srgbClr>
            </a:outerShdw>
          </a:effectLst>
        </p:spPr>
      </p:sp>
      <p:sp>
        <p:nvSpPr>
          <p:cNvPr id="4" name="Shape 2"/>
          <p:cNvSpPr/>
          <p:nvPr/>
        </p:nvSpPr>
        <p:spPr>
          <a:xfrm>
            <a:off x="713232" y="1499616"/>
            <a:ext cx="493776" cy="493776"/>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841614" y="1627998"/>
            <a:ext cx="237012" cy="237012"/>
          </a:xfrm>
          <a:prstGeom prst="rect">
            <a:avLst/>
          </a:prstGeom>
        </p:spPr>
      </p:pic>
      <p:sp>
        <p:nvSpPr>
          <p:cNvPr id="6" name="Text 3"/>
          <p:cNvSpPr/>
          <p:nvPr/>
        </p:nvSpPr>
        <p:spPr>
          <a:xfrm>
            <a:off x="1389888" y="1453896"/>
            <a:ext cx="3108960" cy="329184"/>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The Business Problem</a:t>
            </a:r>
            <a:endParaRPr lang="en-US" sz="1500" dirty="0"/>
          </a:p>
        </p:txBody>
      </p:sp>
      <p:sp>
        <p:nvSpPr>
          <p:cNvPr id="7" name="Text 4"/>
          <p:cNvSpPr/>
          <p:nvPr/>
        </p:nvSpPr>
        <p:spPr>
          <a:xfrm>
            <a:off x="1389888" y="1783080"/>
            <a:ext cx="3108960" cy="310896"/>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Why grocery stock decisions fail</a:t>
            </a:r>
            <a:endParaRPr lang="en-US" sz="1150" dirty="0"/>
          </a:p>
        </p:txBody>
      </p:sp>
      <p:sp>
        <p:nvSpPr>
          <p:cNvPr id="8" name="Shape 5"/>
          <p:cNvSpPr/>
          <p:nvPr/>
        </p:nvSpPr>
        <p:spPr>
          <a:xfrm>
            <a:off x="4818888" y="1325880"/>
            <a:ext cx="4069080" cy="841248"/>
          </a:xfrm>
          <a:prstGeom prst="roundRect">
            <a:avLst>
              <a:gd name="adj" fmla="val 8696"/>
            </a:avLst>
          </a:prstGeom>
          <a:solidFill>
            <a:srgbClr val="F6FBF8"/>
          </a:solidFill>
          <a:ln/>
          <a:effectLst>
            <a:outerShdw sx="100000" sy="100000" kx="0" ky="0" algn="bl" rotWithShape="0" blurRad="88900" dist="38100" dir="5400000">
              <a:srgbClr val="000000">
                <a:alpha val="12000"/>
              </a:srgbClr>
            </a:outerShdw>
          </a:effectLst>
        </p:spPr>
      </p:sp>
      <p:sp>
        <p:nvSpPr>
          <p:cNvPr id="9" name="Shape 6"/>
          <p:cNvSpPr/>
          <p:nvPr/>
        </p:nvSpPr>
        <p:spPr>
          <a:xfrm>
            <a:off x="4983480" y="1499616"/>
            <a:ext cx="493776" cy="493776"/>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10" name="Image 1" descr="preencoded.png">    </p:cNvPr>
          <p:cNvPicPr>
            <a:picLocks noChangeAspect="1"/>
          </p:cNvPicPr>
          <p:nvPr/>
        </p:nvPicPr>
        <p:blipFill>
          <a:blip r:embed="rId2"/>
          <a:stretch>
            <a:fillRect/>
          </a:stretch>
        </p:blipFill>
        <p:spPr>
          <a:xfrm>
            <a:off x="5111862" y="1627998"/>
            <a:ext cx="237012" cy="237012"/>
          </a:xfrm>
          <a:prstGeom prst="rect">
            <a:avLst/>
          </a:prstGeom>
        </p:spPr>
      </p:pic>
      <p:sp>
        <p:nvSpPr>
          <p:cNvPr id="11" name="Text 7"/>
          <p:cNvSpPr/>
          <p:nvPr/>
        </p:nvSpPr>
        <p:spPr>
          <a:xfrm>
            <a:off x="5660136" y="1453896"/>
            <a:ext cx="3108960" cy="329184"/>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Why LSTM</a:t>
            </a:r>
            <a:endParaRPr lang="en-US" sz="1500" dirty="0"/>
          </a:p>
        </p:txBody>
      </p:sp>
      <p:sp>
        <p:nvSpPr>
          <p:cNvPr id="12" name="Text 8"/>
          <p:cNvSpPr/>
          <p:nvPr/>
        </p:nvSpPr>
        <p:spPr>
          <a:xfrm>
            <a:off x="5660136" y="1783080"/>
            <a:ext cx="3108960" cy="310896"/>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Deep learning vs traditional methods</a:t>
            </a:r>
            <a:endParaRPr lang="en-US" sz="1150" dirty="0"/>
          </a:p>
        </p:txBody>
      </p:sp>
      <p:sp>
        <p:nvSpPr>
          <p:cNvPr id="13" name="Shape 9"/>
          <p:cNvSpPr/>
          <p:nvPr/>
        </p:nvSpPr>
        <p:spPr>
          <a:xfrm>
            <a:off x="548640" y="2368296"/>
            <a:ext cx="4069080" cy="841248"/>
          </a:xfrm>
          <a:prstGeom prst="roundRect">
            <a:avLst>
              <a:gd name="adj" fmla="val 8696"/>
            </a:avLst>
          </a:prstGeom>
          <a:solidFill>
            <a:srgbClr val="F6FBF8"/>
          </a:solidFill>
          <a:ln/>
          <a:effectLst>
            <a:outerShdw sx="100000" sy="100000" kx="0" ky="0" algn="bl" rotWithShape="0" blurRad="88900" dist="38100" dir="5400000">
              <a:srgbClr val="000000">
                <a:alpha val="12000"/>
              </a:srgbClr>
            </a:outerShdw>
          </a:effectLst>
        </p:spPr>
      </p:sp>
      <p:sp>
        <p:nvSpPr>
          <p:cNvPr id="14" name="Shape 10"/>
          <p:cNvSpPr/>
          <p:nvPr/>
        </p:nvSpPr>
        <p:spPr>
          <a:xfrm>
            <a:off x="713232" y="2542032"/>
            <a:ext cx="493776" cy="493776"/>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841614" y="2670414"/>
            <a:ext cx="237012" cy="237012"/>
          </a:xfrm>
          <a:prstGeom prst="rect">
            <a:avLst/>
          </a:prstGeom>
        </p:spPr>
      </p:pic>
      <p:sp>
        <p:nvSpPr>
          <p:cNvPr id="16" name="Text 11"/>
          <p:cNvSpPr/>
          <p:nvPr/>
        </p:nvSpPr>
        <p:spPr>
          <a:xfrm>
            <a:off x="1389888" y="2496312"/>
            <a:ext cx="3108960" cy="329184"/>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Solution &amp; Architecture</a:t>
            </a:r>
            <a:endParaRPr lang="en-US" sz="1500" dirty="0"/>
          </a:p>
        </p:txBody>
      </p:sp>
      <p:sp>
        <p:nvSpPr>
          <p:cNvPr id="17" name="Text 12"/>
          <p:cNvSpPr/>
          <p:nvPr/>
        </p:nvSpPr>
        <p:spPr>
          <a:xfrm>
            <a:off x="1389888" y="2825496"/>
            <a:ext cx="3108960" cy="310896"/>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How StockWise AI works end-to-end</a:t>
            </a:r>
            <a:endParaRPr lang="en-US" sz="1150" dirty="0"/>
          </a:p>
        </p:txBody>
      </p:sp>
      <p:sp>
        <p:nvSpPr>
          <p:cNvPr id="18" name="Shape 13"/>
          <p:cNvSpPr/>
          <p:nvPr/>
        </p:nvSpPr>
        <p:spPr>
          <a:xfrm>
            <a:off x="4818888" y="2368296"/>
            <a:ext cx="4069080" cy="841248"/>
          </a:xfrm>
          <a:prstGeom prst="roundRect">
            <a:avLst>
              <a:gd name="adj" fmla="val 8696"/>
            </a:avLst>
          </a:prstGeom>
          <a:solidFill>
            <a:srgbClr val="F6FBF8"/>
          </a:solidFill>
          <a:ln/>
          <a:effectLst>
            <a:outerShdw sx="100000" sy="100000" kx="0" ky="0" algn="bl" rotWithShape="0" blurRad="88900" dist="38100" dir="5400000">
              <a:srgbClr val="000000">
                <a:alpha val="12000"/>
              </a:srgbClr>
            </a:outerShdw>
          </a:effectLst>
        </p:spPr>
      </p:sp>
      <p:sp>
        <p:nvSpPr>
          <p:cNvPr id="19" name="Shape 14"/>
          <p:cNvSpPr/>
          <p:nvPr/>
        </p:nvSpPr>
        <p:spPr>
          <a:xfrm>
            <a:off x="4983480" y="2542032"/>
            <a:ext cx="493776" cy="493776"/>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20" name="Image 3" descr="preencoded.png">    </p:cNvPr>
          <p:cNvPicPr>
            <a:picLocks noChangeAspect="1"/>
          </p:cNvPicPr>
          <p:nvPr/>
        </p:nvPicPr>
        <p:blipFill>
          <a:blip r:embed="rId4"/>
          <a:stretch>
            <a:fillRect/>
          </a:stretch>
        </p:blipFill>
        <p:spPr>
          <a:xfrm>
            <a:off x="5111862" y="2670414"/>
            <a:ext cx="237012" cy="237012"/>
          </a:xfrm>
          <a:prstGeom prst="rect">
            <a:avLst/>
          </a:prstGeom>
        </p:spPr>
      </p:pic>
      <p:sp>
        <p:nvSpPr>
          <p:cNvPr id="21" name="Text 15"/>
          <p:cNvSpPr/>
          <p:nvPr/>
        </p:nvSpPr>
        <p:spPr>
          <a:xfrm>
            <a:off x="5660136" y="2496312"/>
            <a:ext cx="3108960" cy="329184"/>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Results &amp; Business Impact</a:t>
            </a:r>
            <a:endParaRPr lang="en-US" sz="1500" dirty="0"/>
          </a:p>
        </p:txBody>
      </p:sp>
      <p:sp>
        <p:nvSpPr>
          <p:cNvPr id="22" name="Text 16"/>
          <p:cNvSpPr/>
          <p:nvPr/>
        </p:nvSpPr>
        <p:spPr>
          <a:xfrm>
            <a:off x="5660136" y="2825496"/>
            <a:ext cx="3108960" cy="310896"/>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Accuracy, reorder engine, ROI</a:t>
            </a:r>
            <a:endParaRPr lang="en-US" sz="1150" dirty="0"/>
          </a:p>
        </p:txBody>
      </p:sp>
      <p:sp>
        <p:nvSpPr>
          <p:cNvPr id="23" name="Text 17"/>
          <p:cNvSpPr/>
          <p:nvPr/>
        </p:nvSpPr>
        <p:spPr>
          <a:xfrm>
            <a:off x="548640" y="3291840"/>
            <a:ext cx="8229600" cy="310896"/>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Team &amp; responsibilities</a:t>
            </a:r>
            <a:endParaRPr lang="en-US" sz="1300" dirty="0"/>
          </a:p>
        </p:txBody>
      </p:sp>
      <p:sp>
        <p:nvSpPr>
          <p:cNvPr id="24" name="Shape 18"/>
          <p:cNvSpPr/>
          <p:nvPr/>
        </p:nvSpPr>
        <p:spPr>
          <a:xfrm>
            <a:off x="548640" y="3611880"/>
            <a:ext cx="2011680" cy="1143000"/>
          </a:xfrm>
          <a:prstGeom prst="roundRect">
            <a:avLst>
              <a:gd name="adj" fmla="val 5600"/>
            </a:avLst>
          </a:prstGeom>
          <a:solidFill>
            <a:srgbClr val="0F5132"/>
          </a:solidFill>
          <a:ln/>
        </p:spPr>
      </p:sp>
      <p:sp>
        <p:nvSpPr>
          <p:cNvPr id="25" name="Text 19"/>
          <p:cNvSpPr/>
          <p:nvPr/>
        </p:nvSpPr>
        <p:spPr>
          <a:xfrm>
            <a:off x="658368" y="3703320"/>
            <a:ext cx="1792224" cy="420624"/>
          </a:xfrm>
          <a:prstGeom prst="rect">
            <a:avLst/>
          </a:prstGeom>
          <a:noFill/>
          <a:ln/>
        </p:spPr>
        <p:txBody>
          <a:bodyPr wrap="square" lIns="0" tIns="0" rIns="0" bIns="0" rtlCol="0" anchor="t"/>
          <a:lstStyle/>
          <a:p>
            <a:pPr indent="0" marL="0">
              <a:buNone/>
            </a:pPr>
            <a:r>
              <a:rPr lang="en-US" sz="1200" b="1" dirty="0">
                <a:solidFill>
                  <a:srgbClr val="F59E0B"/>
                </a:solidFill>
                <a:latin typeface="Calibri" pitchFamily="34" charset="0"/>
                <a:ea typeface="Calibri" pitchFamily="34" charset="-122"/>
                <a:cs typeface="Calibri" pitchFamily="34" charset="-120"/>
              </a:rPr>
              <a:t>Krishna Mathur</a:t>
            </a:r>
            <a:endParaRPr lang="en-US" sz="1200" dirty="0"/>
          </a:p>
        </p:txBody>
      </p:sp>
      <p:sp>
        <p:nvSpPr>
          <p:cNvPr id="26" name="Text 20"/>
          <p:cNvSpPr/>
          <p:nvPr/>
        </p:nvSpPr>
        <p:spPr>
          <a:xfrm>
            <a:off x="658368" y="4160520"/>
            <a:ext cx="1792224"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Data Engineer</a:t>
            </a:r>
            <a:endParaRPr lang="en-US" sz="1150" dirty="0"/>
          </a:p>
        </p:txBody>
      </p:sp>
      <p:sp>
        <p:nvSpPr>
          <p:cNvPr id="27" name="Text 21"/>
          <p:cNvSpPr/>
          <p:nvPr/>
        </p:nvSpPr>
        <p:spPr>
          <a:xfrm>
            <a:off x="658368" y="4416552"/>
            <a:ext cx="1792224" cy="310896"/>
          </a:xfrm>
          <a:prstGeom prst="rect">
            <a:avLst/>
          </a:prstGeom>
          <a:noFill/>
          <a:ln/>
        </p:spPr>
        <p:txBody>
          <a:bodyPr wrap="square" lIns="0" tIns="0" rIns="0" bIns="0" rtlCol="0" anchor="ctr"/>
          <a:lstStyle/>
          <a:p>
            <a:pPr indent="0" marL="0">
              <a:buNone/>
            </a:pPr>
            <a:r>
              <a:rPr lang="en-US" sz="950" dirty="0">
                <a:solidFill>
                  <a:srgbClr val="D1FAE5"/>
                </a:solidFill>
                <a:latin typeface="Calibri" pitchFamily="34" charset="0"/>
                <a:ea typeface="Calibri" pitchFamily="34" charset="-122"/>
                <a:cs typeface="Calibri" pitchFamily="34" charset="-120"/>
              </a:rPr>
              <a:t>Dataset, EDA &amp; preprocessing</a:t>
            </a:r>
            <a:endParaRPr lang="en-US" sz="950" dirty="0"/>
          </a:p>
        </p:txBody>
      </p:sp>
      <p:sp>
        <p:nvSpPr>
          <p:cNvPr id="28" name="Shape 22"/>
          <p:cNvSpPr/>
          <p:nvPr/>
        </p:nvSpPr>
        <p:spPr>
          <a:xfrm>
            <a:off x="2724912" y="3611880"/>
            <a:ext cx="2011680" cy="1143000"/>
          </a:xfrm>
          <a:prstGeom prst="roundRect">
            <a:avLst>
              <a:gd name="adj" fmla="val 5600"/>
            </a:avLst>
          </a:prstGeom>
          <a:solidFill>
            <a:srgbClr val="0F5132"/>
          </a:solidFill>
          <a:ln/>
        </p:spPr>
      </p:sp>
      <p:sp>
        <p:nvSpPr>
          <p:cNvPr id="29" name="Text 23"/>
          <p:cNvSpPr/>
          <p:nvPr/>
        </p:nvSpPr>
        <p:spPr>
          <a:xfrm>
            <a:off x="2834640" y="3703320"/>
            <a:ext cx="1792224" cy="420624"/>
          </a:xfrm>
          <a:prstGeom prst="rect">
            <a:avLst/>
          </a:prstGeom>
          <a:noFill/>
          <a:ln/>
        </p:spPr>
        <p:txBody>
          <a:bodyPr wrap="square" lIns="0" tIns="0" rIns="0" bIns="0" rtlCol="0" anchor="t"/>
          <a:lstStyle/>
          <a:p>
            <a:pPr indent="0" marL="0">
              <a:buNone/>
            </a:pPr>
            <a:r>
              <a:rPr lang="en-US" sz="1200" b="1" dirty="0">
                <a:solidFill>
                  <a:srgbClr val="F59E0B"/>
                </a:solidFill>
                <a:latin typeface="Calibri" pitchFamily="34" charset="0"/>
                <a:ea typeface="Calibri" pitchFamily="34" charset="-122"/>
                <a:cs typeface="Calibri" pitchFamily="34" charset="-120"/>
              </a:rPr>
              <a:t>Yash Petkar</a:t>
            </a:r>
            <a:endParaRPr lang="en-US" sz="1200" dirty="0"/>
          </a:p>
        </p:txBody>
      </p:sp>
      <p:sp>
        <p:nvSpPr>
          <p:cNvPr id="30" name="Text 24"/>
          <p:cNvSpPr/>
          <p:nvPr/>
        </p:nvSpPr>
        <p:spPr>
          <a:xfrm>
            <a:off x="2834640" y="4160520"/>
            <a:ext cx="1792224"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Model Developer</a:t>
            </a:r>
            <a:endParaRPr lang="en-US" sz="1150" dirty="0"/>
          </a:p>
        </p:txBody>
      </p:sp>
      <p:sp>
        <p:nvSpPr>
          <p:cNvPr id="31" name="Text 25"/>
          <p:cNvSpPr/>
          <p:nvPr/>
        </p:nvSpPr>
        <p:spPr>
          <a:xfrm>
            <a:off x="2834640" y="4416552"/>
            <a:ext cx="1792224" cy="310896"/>
          </a:xfrm>
          <a:prstGeom prst="rect">
            <a:avLst/>
          </a:prstGeom>
          <a:noFill/>
          <a:ln/>
        </p:spPr>
        <p:txBody>
          <a:bodyPr wrap="square" lIns="0" tIns="0" rIns="0" bIns="0" rtlCol="0" anchor="ctr"/>
          <a:lstStyle/>
          <a:p>
            <a:pPr indent="0" marL="0">
              <a:buNone/>
            </a:pPr>
            <a:r>
              <a:rPr lang="en-US" sz="950" dirty="0">
                <a:solidFill>
                  <a:srgbClr val="D1FAE5"/>
                </a:solidFill>
                <a:latin typeface="Calibri" pitchFamily="34" charset="0"/>
                <a:ea typeface="Calibri" pitchFamily="34" charset="-122"/>
                <a:cs typeface="Calibri" pitchFamily="34" charset="-120"/>
              </a:rPr>
              <a:t>LSTM build, training &amp; tuning</a:t>
            </a:r>
            <a:endParaRPr lang="en-US" sz="950" dirty="0"/>
          </a:p>
        </p:txBody>
      </p:sp>
      <p:sp>
        <p:nvSpPr>
          <p:cNvPr id="32" name="Shape 26"/>
          <p:cNvSpPr/>
          <p:nvPr/>
        </p:nvSpPr>
        <p:spPr>
          <a:xfrm>
            <a:off x="4901184" y="3611880"/>
            <a:ext cx="2011680" cy="1143000"/>
          </a:xfrm>
          <a:prstGeom prst="roundRect">
            <a:avLst>
              <a:gd name="adj" fmla="val 5600"/>
            </a:avLst>
          </a:prstGeom>
          <a:solidFill>
            <a:srgbClr val="0F5132"/>
          </a:solidFill>
          <a:ln/>
        </p:spPr>
      </p:sp>
      <p:sp>
        <p:nvSpPr>
          <p:cNvPr id="33" name="Text 27"/>
          <p:cNvSpPr/>
          <p:nvPr/>
        </p:nvSpPr>
        <p:spPr>
          <a:xfrm>
            <a:off x="5010912" y="3703320"/>
            <a:ext cx="1792224" cy="420624"/>
          </a:xfrm>
          <a:prstGeom prst="rect">
            <a:avLst/>
          </a:prstGeom>
          <a:noFill/>
          <a:ln/>
        </p:spPr>
        <p:txBody>
          <a:bodyPr wrap="square" lIns="0" tIns="0" rIns="0" bIns="0" rtlCol="0" anchor="t"/>
          <a:lstStyle/>
          <a:p>
            <a:pPr indent="0" marL="0">
              <a:buNone/>
            </a:pPr>
            <a:r>
              <a:rPr lang="en-US" sz="1200" b="1" dirty="0">
                <a:solidFill>
                  <a:srgbClr val="F59E0B"/>
                </a:solidFill>
                <a:latin typeface="Calibri" pitchFamily="34" charset="0"/>
                <a:ea typeface="Calibri" pitchFamily="34" charset="-122"/>
                <a:cs typeface="Calibri" pitchFamily="34" charset="-120"/>
              </a:rPr>
              <a:t>Atharva Soundankar</a:t>
            </a:r>
            <a:endParaRPr lang="en-US" sz="1200" dirty="0"/>
          </a:p>
        </p:txBody>
      </p:sp>
      <p:sp>
        <p:nvSpPr>
          <p:cNvPr id="34" name="Text 28"/>
          <p:cNvSpPr/>
          <p:nvPr/>
        </p:nvSpPr>
        <p:spPr>
          <a:xfrm>
            <a:off x="5010912" y="4160520"/>
            <a:ext cx="1792224"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Evaluation Lead</a:t>
            </a:r>
            <a:endParaRPr lang="en-US" sz="1150" dirty="0"/>
          </a:p>
        </p:txBody>
      </p:sp>
      <p:sp>
        <p:nvSpPr>
          <p:cNvPr id="35" name="Text 29"/>
          <p:cNvSpPr/>
          <p:nvPr/>
        </p:nvSpPr>
        <p:spPr>
          <a:xfrm>
            <a:off x="5010912" y="4416552"/>
            <a:ext cx="1792224" cy="310896"/>
          </a:xfrm>
          <a:prstGeom prst="rect">
            <a:avLst/>
          </a:prstGeom>
          <a:noFill/>
          <a:ln/>
        </p:spPr>
        <p:txBody>
          <a:bodyPr wrap="square" lIns="0" tIns="0" rIns="0" bIns="0" rtlCol="0" anchor="ctr"/>
          <a:lstStyle/>
          <a:p>
            <a:pPr indent="0" marL="0">
              <a:buNone/>
            </a:pPr>
            <a:r>
              <a:rPr lang="en-US" sz="950" dirty="0">
                <a:solidFill>
                  <a:srgbClr val="D1FAE5"/>
                </a:solidFill>
                <a:latin typeface="Calibri" pitchFamily="34" charset="0"/>
                <a:ea typeface="Calibri" pitchFamily="34" charset="-122"/>
                <a:cs typeface="Calibri" pitchFamily="34" charset="-120"/>
              </a:rPr>
              <a:t>Metrics &amp; reorder engine</a:t>
            </a:r>
            <a:endParaRPr lang="en-US" sz="950" dirty="0"/>
          </a:p>
        </p:txBody>
      </p:sp>
      <p:sp>
        <p:nvSpPr>
          <p:cNvPr id="36" name="Shape 30"/>
          <p:cNvSpPr/>
          <p:nvPr/>
        </p:nvSpPr>
        <p:spPr>
          <a:xfrm>
            <a:off x="7077456" y="3611880"/>
            <a:ext cx="2011680" cy="1143000"/>
          </a:xfrm>
          <a:prstGeom prst="roundRect">
            <a:avLst>
              <a:gd name="adj" fmla="val 5600"/>
            </a:avLst>
          </a:prstGeom>
          <a:solidFill>
            <a:srgbClr val="0F5132"/>
          </a:solidFill>
          <a:ln/>
        </p:spPr>
      </p:sp>
      <p:sp>
        <p:nvSpPr>
          <p:cNvPr id="37" name="Text 31"/>
          <p:cNvSpPr/>
          <p:nvPr/>
        </p:nvSpPr>
        <p:spPr>
          <a:xfrm>
            <a:off x="7187184" y="3703320"/>
            <a:ext cx="1792224" cy="420624"/>
          </a:xfrm>
          <a:prstGeom prst="rect">
            <a:avLst/>
          </a:prstGeom>
          <a:noFill/>
          <a:ln/>
        </p:spPr>
        <p:txBody>
          <a:bodyPr wrap="square" lIns="0" tIns="0" rIns="0" bIns="0" rtlCol="0" anchor="t"/>
          <a:lstStyle/>
          <a:p>
            <a:pPr indent="0" marL="0">
              <a:buNone/>
            </a:pPr>
            <a:r>
              <a:rPr lang="en-US" sz="1200" b="1" dirty="0">
                <a:solidFill>
                  <a:srgbClr val="F59E0B"/>
                </a:solidFill>
                <a:latin typeface="Calibri" pitchFamily="34" charset="0"/>
                <a:ea typeface="Calibri" pitchFamily="34" charset="-122"/>
                <a:cs typeface="Calibri" pitchFamily="34" charset="-120"/>
              </a:rPr>
              <a:t>(Member 4)</a:t>
            </a:r>
            <a:endParaRPr lang="en-US" sz="1200" dirty="0"/>
          </a:p>
        </p:txBody>
      </p:sp>
      <p:sp>
        <p:nvSpPr>
          <p:cNvPr id="38" name="Text 32"/>
          <p:cNvSpPr/>
          <p:nvPr/>
        </p:nvSpPr>
        <p:spPr>
          <a:xfrm>
            <a:off x="7187184" y="4160520"/>
            <a:ext cx="1792224"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Deployment Lead</a:t>
            </a:r>
            <a:endParaRPr lang="en-US" sz="1150" dirty="0"/>
          </a:p>
        </p:txBody>
      </p:sp>
      <p:sp>
        <p:nvSpPr>
          <p:cNvPr id="39" name="Text 33"/>
          <p:cNvSpPr/>
          <p:nvPr/>
        </p:nvSpPr>
        <p:spPr>
          <a:xfrm>
            <a:off x="7187184" y="4416552"/>
            <a:ext cx="1792224" cy="310896"/>
          </a:xfrm>
          <a:prstGeom prst="rect">
            <a:avLst/>
          </a:prstGeom>
          <a:noFill/>
          <a:ln/>
        </p:spPr>
        <p:txBody>
          <a:bodyPr wrap="square" lIns="0" tIns="0" rIns="0" bIns="0" rtlCol="0" anchor="ctr"/>
          <a:lstStyle/>
          <a:p>
            <a:pPr indent="0" marL="0">
              <a:buNone/>
            </a:pPr>
            <a:r>
              <a:rPr lang="en-US" sz="950" dirty="0">
                <a:solidFill>
                  <a:srgbClr val="D1FAE5"/>
                </a:solidFill>
                <a:latin typeface="Calibri" pitchFamily="34" charset="0"/>
                <a:ea typeface="Calibri" pitchFamily="34" charset="-122"/>
                <a:cs typeface="Calibri" pitchFamily="34" charset="-120"/>
              </a:rPr>
              <a:t>Dashboard, demo &amp; integration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lIns="0" tIns="0" rIns="0" bIns="0" rtlCol="0" anchor="ctr"/>
          <a:lstStyle/>
          <a:p>
            <a:pPr indent="0" marL="0">
              <a:buNone/>
            </a:pPr>
            <a:r>
              <a:rPr lang="en-US" sz="3400" b="1" dirty="0">
                <a:solidFill>
                  <a:srgbClr val="0F5132"/>
                </a:solidFill>
                <a:latin typeface="Cambria" pitchFamily="34" charset="0"/>
                <a:ea typeface="Cambria" pitchFamily="34" charset="-122"/>
                <a:cs typeface="Cambria" pitchFamily="34" charset="-120"/>
              </a:rPr>
              <a:t>The Business Problem</a:t>
            </a:r>
            <a:endParaRPr lang="en-US" sz="3400" dirty="0"/>
          </a:p>
        </p:txBody>
      </p:sp>
      <p:sp>
        <p:nvSpPr>
          <p:cNvPr id="3" name="Text 1"/>
          <p:cNvSpPr/>
          <p:nvPr/>
        </p:nvSpPr>
        <p:spPr>
          <a:xfrm>
            <a:off x="548640" y="1024128"/>
            <a:ext cx="8229600" cy="365760"/>
          </a:xfrm>
          <a:prstGeom prst="rect">
            <a:avLst/>
          </a:prstGeom>
          <a:noFill/>
          <a:ln/>
        </p:spPr>
        <p:txBody>
          <a:bodyPr wrap="square" lIns="0" tIns="0" rIns="0" bIns="0" rtlCol="0" anchor="ctr"/>
          <a:lstStyle/>
          <a:p>
            <a:pPr indent="0" marL="0">
              <a:buNone/>
            </a:pPr>
            <a:r>
              <a:rPr lang="en-US" sz="1450" i="1" dirty="0">
                <a:solidFill>
                  <a:srgbClr val="64748B"/>
                </a:solidFill>
                <a:latin typeface="Calibri" pitchFamily="34" charset="0"/>
                <a:ea typeface="Calibri" pitchFamily="34" charset="-122"/>
                <a:cs typeface="Calibri" pitchFamily="34" charset="-120"/>
              </a:rPr>
              <a:t>A grocery store loses money two ways at once — and humans guess the stock levels.</a:t>
            </a:r>
            <a:endParaRPr lang="en-US" sz="1450" dirty="0"/>
          </a:p>
        </p:txBody>
      </p:sp>
      <p:sp>
        <p:nvSpPr>
          <p:cNvPr id="4" name="Shape 2"/>
          <p:cNvSpPr/>
          <p:nvPr/>
        </p:nvSpPr>
        <p:spPr>
          <a:xfrm>
            <a:off x="548640" y="1554480"/>
            <a:ext cx="3931920" cy="1371600"/>
          </a:xfrm>
          <a:prstGeom prst="roundRect">
            <a:avLst>
              <a:gd name="adj" fmla="val 5333"/>
            </a:avLst>
          </a:prstGeom>
          <a:solidFill>
            <a:srgbClr val="F6FBF8"/>
          </a:solidFill>
          <a:ln/>
          <a:effectLst>
            <a:outerShdw sx="100000" sy="100000" kx="0" ky="0" algn="bl" rotWithShape="0" blurRad="88900" dist="38100" dir="5400000">
              <a:srgbClr val="000000">
                <a:alpha val="12000"/>
              </a:srgbClr>
            </a:outerShdw>
          </a:effectLst>
        </p:spPr>
      </p:sp>
      <p:sp>
        <p:nvSpPr>
          <p:cNvPr id="5" name="Shape 3"/>
          <p:cNvSpPr/>
          <p:nvPr/>
        </p:nvSpPr>
        <p:spPr>
          <a:xfrm>
            <a:off x="749808" y="1783080"/>
            <a:ext cx="548640" cy="548640"/>
          </a:xfrm>
          <a:prstGeom prst="ellipse">
            <a:avLst/>
          </a:prstGeom>
          <a:solidFill>
            <a:srgbClr val="F59E0B"/>
          </a:solidFill>
          <a:ln/>
          <a:effectLst>
            <a:outerShdw sx="100000" sy="100000" kx="0" ky="0" algn="bl" rotWithShape="0" blurRad="88900" dist="38100" dir="54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892454" y="1925726"/>
            <a:ext cx="263347" cy="263347"/>
          </a:xfrm>
          <a:prstGeom prst="rect">
            <a:avLst/>
          </a:prstGeom>
        </p:spPr>
      </p:pic>
      <p:sp>
        <p:nvSpPr>
          <p:cNvPr id="7" name="Text 4"/>
          <p:cNvSpPr/>
          <p:nvPr/>
        </p:nvSpPr>
        <p:spPr>
          <a:xfrm>
            <a:off x="1463040" y="1719072"/>
            <a:ext cx="2834640" cy="365760"/>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Overstocking</a:t>
            </a:r>
            <a:endParaRPr lang="en-US" sz="1700" dirty="0"/>
          </a:p>
        </p:txBody>
      </p:sp>
      <p:sp>
        <p:nvSpPr>
          <p:cNvPr id="8" name="Text 5"/>
          <p:cNvSpPr/>
          <p:nvPr/>
        </p:nvSpPr>
        <p:spPr>
          <a:xfrm>
            <a:off x="1463040" y="2084832"/>
            <a:ext cx="2880360" cy="7772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Fresh items (milk, vegetables, bread) expire unsold. Money is thrown in the bin every single day.</a:t>
            </a:r>
            <a:endParaRPr lang="en-US" sz="1150" dirty="0"/>
          </a:p>
        </p:txBody>
      </p:sp>
      <p:sp>
        <p:nvSpPr>
          <p:cNvPr id="9" name="Shape 6"/>
          <p:cNvSpPr/>
          <p:nvPr/>
        </p:nvSpPr>
        <p:spPr>
          <a:xfrm>
            <a:off x="4754880" y="1554480"/>
            <a:ext cx="3931920" cy="1371600"/>
          </a:xfrm>
          <a:prstGeom prst="roundRect">
            <a:avLst>
              <a:gd name="adj" fmla="val 5333"/>
            </a:avLst>
          </a:prstGeom>
          <a:solidFill>
            <a:srgbClr val="F6FBF8"/>
          </a:solidFill>
          <a:ln/>
          <a:effectLst>
            <a:outerShdw sx="100000" sy="100000" kx="0" ky="0" algn="bl" rotWithShape="0" blurRad="88900" dist="38100" dir="5400000">
              <a:srgbClr val="000000">
                <a:alpha val="12000"/>
              </a:srgbClr>
            </a:outerShdw>
          </a:effectLst>
        </p:spPr>
      </p:sp>
      <p:sp>
        <p:nvSpPr>
          <p:cNvPr id="10" name="Shape 7"/>
          <p:cNvSpPr/>
          <p:nvPr/>
        </p:nvSpPr>
        <p:spPr>
          <a:xfrm>
            <a:off x="4956048" y="1783080"/>
            <a:ext cx="548640" cy="548640"/>
          </a:xfrm>
          <a:prstGeom prst="ellipse">
            <a:avLst/>
          </a:prstGeom>
          <a:solidFill>
            <a:srgbClr val="157347"/>
          </a:solidFill>
          <a:ln/>
          <a:effectLst>
            <a:outerShdw sx="100000" sy="100000" kx="0" ky="0" algn="bl" rotWithShape="0" blurRad="88900" dist="38100" dir="54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5098694" y="1925726"/>
            <a:ext cx="263347" cy="263347"/>
          </a:xfrm>
          <a:prstGeom prst="rect">
            <a:avLst/>
          </a:prstGeom>
        </p:spPr>
      </p:pic>
      <p:sp>
        <p:nvSpPr>
          <p:cNvPr id="12" name="Text 8"/>
          <p:cNvSpPr/>
          <p:nvPr/>
        </p:nvSpPr>
        <p:spPr>
          <a:xfrm>
            <a:off x="5669280" y="1719072"/>
            <a:ext cx="2834640" cy="365760"/>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Stockouts</a:t>
            </a:r>
            <a:endParaRPr lang="en-US" sz="1700" dirty="0"/>
          </a:p>
        </p:txBody>
      </p:sp>
      <p:sp>
        <p:nvSpPr>
          <p:cNvPr id="13" name="Text 9"/>
          <p:cNvSpPr/>
          <p:nvPr/>
        </p:nvSpPr>
        <p:spPr>
          <a:xfrm>
            <a:off x="5669280" y="2084832"/>
            <a:ext cx="2880360" cy="7772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Popular items run out. The customer walks to a competitor — lost sale today and lost loyalty tomorrow.</a:t>
            </a:r>
            <a:endParaRPr lang="en-US" sz="1150" dirty="0"/>
          </a:p>
        </p:txBody>
      </p:sp>
      <p:sp>
        <p:nvSpPr>
          <p:cNvPr id="14" name="Shape 10"/>
          <p:cNvSpPr/>
          <p:nvPr/>
        </p:nvSpPr>
        <p:spPr>
          <a:xfrm>
            <a:off x="548640" y="3246120"/>
            <a:ext cx="2679192" cy="1371600"/>
          </a:xfrm>
          <a:prstGeom prst="roundRect">
            <a:avLst>
              <a:gd name="adj" fmla="val 5333"/>
            </a:avLst>
          </a:prstGeom>
          <a:solidFill>
            <a:srgbClr val="0F5132"/>
          </a:solidFill>
          <a:ln/>
        </p:spPr>
      </p:sp>
      <p:sp>
        <p:nvSpPr>
          <p:cNvPr id="15" name="Text 11"/>
          <p:cNvSpPr/>
          <p:nvPr/>
        </p:nvSpPr>
        <p:spPr>
          <a:xfrm>
            <a:off x="640080" y="3429000"/>
            <a:ext cx="2496312" cy="640080"/>
          </a:xfrm>
          <a:prstGeom prst="rect">
            <a:avLst/>
          </a:prstGeom>
          <a:noFill/>
          <a:ln/>
        </p:spPr>
        <p:txBody>
          <a:bodyPr wrap="square" lIns="0" tIns="0" rIns="0" bIns="0" rtlCol="0" anchor="ctr"/>
          <a:lstStyle/>
          <a:p>
            <a:pPr algn="ctr" indent="0" marL="0">
              <a:buNone/>
            </a:pPr>
            <a:r>
              <a:rPr lang="en-US" sz="3800" b="1" dirty="0">
                <a:solidFill>
                  <a:srgbClr val="F59E0B"/>
                </a:solidFill>
                <a:latin typeface="Cambria" pitchFamily="34" charset="0"/>
                <a:ea typeface="Cambria" pitchFamily="34" charset="-122"/>
                <a:cs typeface="Cambria" pitchFamily="34" charset="-120"/>
              </a:rPr>
              <a:t>~$1T</a:t>
            </a:r>
            <a:endParaRPr lang="en-US" sz="3800" dirty="0"/>
          </a:p>
        </p:txBody>
      </p:sp>
      <p:sp>
        <p:nvSpPr>
          <p:cNvPr id="16" name="Text 12"/>
          <p:cNvSpPr/>
          <p:nvPr/>
        </p:nvSpPr>
        <p:spPr>
          <a:xfrm>
            <a:off x="713232" y="4087368"/>
            <a:ext cx="2350008" cy="457200"/>
          </a:xfrm>
          <a:prstGeom prst="rect">
            <a:avLst/>
          </a:prstGeom>
          <a:noFill/>
          <a:ln/>
        </p:spPr>
        <p:txBody>
          <a:bodyPr wrap="square" lIns="0" tIns="0" rIns="0" bIns="0" rtlCol="0" anchor="ctr"/>
          <a:lstStyle/>
          <a:p>
            <a:pPr algn="ctr" indent="0" marL="0">
              <a:buNone/>
            </a:pPr>
            <a:r>
              <a:rPr lang="en-US" sz="1100" dirty="0">
                <a:solidFill>
                  <a:srgbClr val="D1FAE5"/>
                </a:solidFill>
                <a:latin typeface="Calibri" pitchFamily="34" charset="0"/>
                <a:ea typeface="Calibri" pitchFamily="34" charset="-122"/>
                <a:cs typeface="Calibri" pitchFamily="34" charset="-120"/>
              </a:rPr>
              <a:t>lost globally each year to food waste &amp; overstock</a:t>
            </a:r>
            <a:endParaRPr lang="en-US" sz="1100" dirty="0"/>
          </a:p>
        </p:txBody>
      </p:sp>
      <p:sp>
        <p:nvSpPr>
          <p:cNvPr id="17" name="Shape 13"/>
          <p:cNvSpPr/>
          <p:nvPr/>
        </p:nvSpPr>
        <p:spPr>
          <a:xfrm>
            <a:off x="3410712" y="3246120"/>
            <a:ext cx="2679192" cy="1371600"/>
          </a:xfrm>
          <a:prstGeom prst="roundRect">
            <a:avLst>
              <a:gd name="adj" fmla="val 5333"/>
            </a:avLst>
          </a:prstGeom>
          <a:solidFill>
            <a:srgbClr val="0F5132"/>
          </a:solidFill>
          <a:ln/>
        </p:spPr>
      </p:sp>
      <p:sp>
        <p:nvSpPr>
          <p:cNvPr id="18" name="Text 14"/>
          <p:cNvSpPr/>
          <p:nvPr/>
        </p:nvSpPr>
        <p:spPr>
          <a:xfrm>
            <a:off x="3502152" y="3429000"/>
            <a:ext cx="2496312" cy="640080"/>
          </a:xfrm>
          <a:prstGeom prst="rect">
            <a:avLst/>
          </a:prstGeom>
          <a:noFill/>
          <a:ln/>
        </p:spPr>
        <p:txBody>
          <a:bodyPr wrap="square" lIns="0" tIns="0" rIns="0" bIns="0" rtlCol="0" anchor="ctr"/>
          <a:lstStyle/>
          <a:p>
            <a:pPr algn="ctr" indent="0" marL="0">
              <a:buNone/>
            </a:pPr>
            <a:r>
              <a:rPr lang="en-US" sz="3800" b="1" dirty="0">
                <a:solidFill>
                  <a:srgbClr val="F59E0B"/>
                </a:solidFill>
                <a:latin typeface="Cambria" pitchFamily="34" charset="0"/>
                <a:ea typeface="Cambria" pitchFamily="34" charset="-122"/>
                <a:cs typeface="Cambria" pitchFamily="34" charset="-120"/>
              </a:rPr>
              <a:t>8–10%</a:t>
            </a:r>
            <a:endParaRPr lang="en-US" sz="3800" dirty="0"/>
          </a:p>
        </p:txBody>
      </p:sp>
      <p:sp>
        <p:nvSpPr>
          <p:cNvPr id="19" name="Text 15"/>
          <p:cNvSpPr/>
          <p:nvPr/>
        </p:nvSpPr>
        <p:spPr>
          <a:xfrm>
            <a:off x="3575304" y="4087368"/>
            <a:ext cx="2350008" cy="457200"/>
          </a:xfrm>
          <a:prstGeom prst="rect">
            <a:avLst/>
          </a:prstGeom>
          <a:noFill/>
          <a:ln/>
        </p:spPr>
        <p:txBody>
          <a:bodyPr wrap="square" lIns="0" tIns="0" rIns="0" bIns="0" rtlCol="0" anchor="ctr"/>
          <a:lstStyle/>
          <a:p>
            <a:pPr algn="ctr" indent="0" marL="0">
              <a:buNone/>
            </a:pPr>
            <a:r>
              <a:rPr lang="en-US" sz="1100" dirty="0">
                <a:solidFill>
                  <a:srgbClr val="D1FAE5"/>
                </a:solidFill>
                <a:latin typeface="Calibri" pitchFamily="34" charset="0"/>
                <a:ea typeface="Calibri" pitchFamily="34" charset="-122"/>
                <a:cs typeface="Calibri" pitchFamily="34" charset="-120"/>
              </a:rPr>
              <a:t>of grocery revenue tied up in spoilage &amp; dead stock</a:t>
            </a:r>
            <a:endParaRPr lang="en-US" sz="1100" dirty="0"/>
          </a:p>
        </p:txBody>
      </p:sp>
      <p:sp>
        <p:nvSpPr>
          <p:cNvPr id="20" name="Shape 16"/>
          <p:cNvSpPr/>
          <p:nvPr/>
        </p:nvSpPr>
        <p:spPr>
          <a:xfrm>
            <a:off x="6272784" y="3246120"/>
            <a:ext cx="2679192" cy="1371600"/>
          </a:xfrm>
          <a:prstGeom prst="roundRect">
            <a:avLst>
              <a:gd name="adj" fmla="val 5333"/>
            </a:avLst>
          </a:prstGeom>
          <a:solidFill>
            <a:srgbClr val="0F5132"/>
          </a:solidFill>
          <a:ln/>
        </p:spPr>
      </p:sp>
      <p:sp>
        <p:nvSpPr>
          <p:cNvPr id="21" name="Text 17"/>
          <p:cNvSpPr/>
          <p:nvPr/>
        </p:nvSpPr>
        <p:spPr>
          <a:xfrm>
            <a:off x="6364224" y="3429000"/>
            <a:ext cx="2496312" cy="640080"/>
          </a:xfrm>
          <a:prstGeom prst="rect">
            <a:avLst/>
          </a:prstGeom>
          <a:noFill/>
          <a:ln/>
        </p:spPr>
        <p:txBody>
          <a:bodyPr wrap="square" lIns="0" tIns="0" rIns="0" bIns="0" rtlCol="0" anchor="ctr"/>
          <a:lstStyle/>
          <a:p>
            <a:pPr algn="ctr" indent="0" marL="0">
              <a:buNone/>
            </a:pPr>
            <a:r>
              <a:rPr lang="en-US" sz="3800" b="1" dirty="0">
                <a:solidFill>
                  <a:srgbClr val="F59E0B"/>
                </a:solidFill>
                <a:latin typeface="Cambria" pitchFamily="34" charset="0"/>
                <a:ea typeface="Cambria" pitchFamily="34" charset="-122"/>
                <a:cs typeface="Cambria" pitchFamily="34" charset="-120"/>
              </a:rPr>
              <a:t>1 in 3</a:t>
            </a:r>
            <a:endParaRPr lang="en-US" sz="3800" dirty="0"/>
          </a:p>
        </p:txBody>
      </p:sp>
      <p:sp>
        <p:nvSpPr>
          <p:cNvPr id="22" name="Text 18"/>
          <p:cNvSpPr/>
          <p:nvPr/>
        </p:nvSpPr>
        <p:spPr>
          <a:xfrm>
            <a:off x="6437376" y="4087368"/>
            <a:ext cx="2350008" cy="457200"/>
          </a:xfrm>
          <a:prstGeom prst="rect">
            <a:avLst/>
          </a:prstGeom>
          <a:noFill/>
          <a:ln/>
        </p:spPr>
        <p:txBody>
          <a:bodyPr wrap="square" lIns="0" tIns="0" rIns="0" bIns="0" rtlCol="0" anchor="ctr"/>
          <a:lstStyle/>
          <a:p>
            <a:pPr algn="ctr" indent="0" marL="0">
              <a:buNone/>
            </a:pPr>
            <a:r>
              <a:rPr lang="en-US" sz="1100" dirty="0">
                <a:solidFill>
                  <a:srgbClr val="D1FAE5"/>
                </a:solidFill>
                <a:latin typeface="Calibri" pitchFamily="34" charset="0"/>
                <a:ea typeface="Calibri" pitchFamily="34" charset="-122"/>
                <a:cs typeface="Calibri" pitchFamily="34" charset="-120"/>
              </a:rPr>
              <a:t>shoppers leave if their item is out of stock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lIns="0" tIns="0" rIns="0" bIns="0" rtlCol="0" anchor="ctr"/>
          <a:lstStyle/>
          <a:p>
            <a:pPr indent="0" marL="0">
              <a:buNone/>
            </a:pPr>
            <a:r>
              <a:rPr lang="en-US" sz="3200" b="1" dirty="0">
                <a:solidFill>
                  <a:srgbClr val="0F5132"/>
                </a:solidFill>
                <a:latin typeface="Cambria" pitchFamily="34" charset="0"/>
                <a:ea typeface="Cambria" pitchFamily="34" charset="-122"/>
                <a:cs typeface="Cambria" pitchFamily="34" charset="-120"/>
              </a:rPr>
              <a:t>Why Deep Learning? Why LSTM?</a:t>
            </a:r>
            <a:endParaRPr lang="en-US" sz="3200" dirty="0"/>
          </a:p>
        </p:txBody>
      </p:sp>
      <p:sp>
        <p:nvSpPr>
          <p:cNvPr id="3" name="Text 1"/>
          <p:cNvSpPr/>
          <p:nvPr/>
        </p:nvSpPr>
        <p:spPr>
          <a:xfrm>
            <a:off x="548640" y="1024128"/>
            <a:ext cx="8229600" cy="36576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Demand is a sequence — yesterday, the weekend, payday, Ramadan, weather. LSTM remembers patterns over time.</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4937760" cy="914400"/>
        </p:xfrm>
        <a:graphic>
          <a:graphicData uri="http://schemas.openxmlformats.org/drawingml/2006/table">
            <a:tbl>
              <a:tblPr/>
              <a:tblGrid>
                <a:gridCol w="1828800"/>
                <a:gridCol w="2423160"/>
                <a:gridCol w="68580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Approach</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Limitation</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Verdict</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Manual / gut feel</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No data, no consistency, no learning</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Moving average</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Ignores seasonality, trends &amp; events</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Linear regression</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Can't capture long sequential memory</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LSTM (our choice)</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Learns trends, seasonality &amp; event spikes from history</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E293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1508760"/>
            <a:ext cx="4937760" cy="384048"/>
          </a:xfrm>
          <a:prstGeom prst="rect">
            <a:avLst/>
          </a:prstGeom>
          <a:solidFill>
            <a:srgbClr val="0F5132"/>
          </a:solidFill>
          <a:ln w="12700">
            <a:solidFill>
              <a:srgbClr val="0F5132"/>
            </a:solidFill>
            <a:prstDash val="solid"/>
          </a:ln>
        </p:spPr>
      </p:sp>
      <p:sp>
        <p:nvSpPr>
          <p:cNvPr id="6" name="Text 3"/>
          <p:cNvSpPr/>
          <p:nvPr/>
        </p:nvSpPr>
        <p:spPr>
          <a:xfrm>
            <a:off x="640080" y="1517904"/>
            <a:ext cx="1737360" cy="3657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Approach</a:t>
            </a:r>
            <a:endParaRPr lang="en-US" sz="1150" dirty="0"/>
          </a:p>
        </p:txBody>
      </p:sp>
      <p:sp>
        <p:nvSpPr>
          <p:cNvPr id="7" name="Text 4"/>
          <p:cNvSpPr/>
          <p:nvPr/>
        </p:nvSpPr>
        <p:spPr>
          <a:xfrm>
            <a:off x="2423160" y="1517904"/>
            <a:ext cx="2377440" cy="3657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Limitation</a:t>
            </a:r>
            <a:endParaRPr lang="en-US" sz="1150" dirty="0"/>
          </a:p>
        </p:txBody>
      </p:sp>
      <p:sp>
        <p:nvSpPr>
          <p:cNvPr id="8" name="Text 5"/>
          <p:cNvSpPr/>
          <p:nvPr/>
        </p:nvSpPr>
        <p:spPr>
          <a:xfrm>
            <a:off x="4846320" y="1517904"/>
            <a:ext cx="5943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Fit</a:t>
            </a:r>
            <a:endParaRPr lang="en-US" sz="1150" dirty="0"/>
          </a:p>
        </p:txBody>
      </p:sp>
      <p:sp>
        <p:nvSpPr>
          <p:cNvPr id="9" name="Shape 6"/>
          <p:cNvSpPr/>
          <p:nvPr/>
        </p:nvSpPr>
        <p:spPr>
          <a:xfrm>
            <a:off x="5715000" y="1508760"/>
            <a:ext cx="2880360" cy="3017520"/>
          </a:xfrm>
          <a:prstGeom prst="roundRect">
            <a:avLst>
              <a:gd name="adj" fmla="val 2857"/>
            </a:avLst>
          </a:prstGeom>
          <a:solidFill>
            <a:srgbClr val="0F5132"/>
          </a:solidFill>
          <a:ln/>
        </p:spPr>
      </p:sp>
      <p:sp>
        <p:nvSpPr>
          <p:cNvPr id="10" name="Shape 7"/>
          <p:cNvSpPr/>
          <p:nvPr/>
        </p:nvSpPr>
        <p:spPr>
          <a:xfrm>
            <a:off x="5897880" y="1691640"/>
            <a:ext cx="566928" cy="566928"/>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11" name="Image 0" descr="preencoded.png">    </p:cNvPr>
          <p:cNvPicPr>
            <a:picLocks noChangeAspect="1"/>
          </p:cNvPicPr>
          <p:nvPr/>
        </p:nvPicPr>
        <p:blipFill>
          <a:blip r:embed="rId1"/>
          <a:stretch>
            <a:fillRect/>
          </a:stretch>
        </p:blipFill>
        <p:spPr>
          <a:xfrm>
            <a:off x="6045281" y="1839041"/>
            <a:ext cx="272125" cy="272125"/>
          </a:xfrm>
          <a:prstGeom prst="rect">
            <a:avLst/>
          </a:prstGeom>
        </p:spPr>
      </p:pic>
      <p:sp>
        <p:nvSpPr>
          <p:cNvPr id="12" name="Text 8"/>
          <p:cNvSpPr/>
          <p:nvPr/>
        </p:nvSpPr>
        <p:spPr>
          <a:xfrm>
            <a:off x="6565392" y="1783080"/>
            <a:ext cx="19202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LSTM learns</a:t>
            </a:r>
            <a:endParaRPr lang="en-US" sz="1500" dirty="0"/>
          </a:p>
        </p:txBody>
      </p:sp>
      <p:sp>
        <p:nvSpPr>
          <p:cNvPr id="13" name="Text 9"/>
          <p:cNvSpPr/>
          <p:nvPr/>
        </p:nvSpPr>
        <p:spPr>
          <a:xfrm>
            <a:off x="5989320" y="2377440"/>
            <a:ext cx="2514600" cy="201168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D1FAE5"/>
                </a:solidFill>
                <a:latin typeface="Calibri" pitchFamily="34" charset="0"/>
                <a:ea typeface="Calibri" pitchFamily="34" charset="-122"/>
                <a:cs typeface="Calibri" pitchFamily="34" charset="-120"/>
              </a:rPr>
              <a:t>Weekly cycles (busy weekends)</a:t>
            </a:r>
            <a:endParaRPr lang="en-US" sz="1250" dirty="0"/>
          </a:p>
          <a:p>
            <a:pPr marL="342900" indent="-342900">
              <a:spcAft>
                <a:spcPts val="800"/>
              </a:spcAft>
              <a:buSzPct val="100000"/>
              <a:buChar char="•"/>
            </a:pPr>
            <a:r>
              <a:rPr lang="en-US" sz="1250" dirty="0">
                <a:solidFill>
                  <a:srgbClr val="D1FAE5"/>
                </a:solidFill>
                <a:latin typeface="Calibri" pitchFamily="34" charset="0"/>
                <a:ea typeface="Calibri" pitchFamily="34" charset="-122"/>
                <a:cs typeface="Calibri" pitchFamily="34" charset="-120"/>
              </a:rPr>
              <a:t>Pay-day demand spikes</a:t>
            </a:r>
            <a:endParaRPr lang="en-US" sz="1250" dirty="0"/>
          </a:p>
          <a:p>
            <a:pPr marL="342900" indent="-342900">
              <a:spcAft>
                <a:spcPts val="800"/>
              </a:spcAft>
              <a:buSzPct val="100000"/>
              <a:buChar char="•"/>
            </a:pPr>
            <a:r>
              <a:rPr lang="en-US" sz="1250" dirty="0">
                <a:solidFill>
                  <a:srgbClr val="D1FAE5"/>
                </a:solidFill>
                <a:latin typeface="Calibri" pitchFamily="34" charset="0"/>
                <a:ea typeface="Calibri" pitchFamily="34" charset="-122"/>
                <a:cs typeface="Calibri" pitchFamily="34" charset="-120"/>
              </a:rPr>
              <a:t>Ramadan &amp; holiday surges</a:t>
            </a:r>
            <a:endParaRPr lang="en-US" sz="1250" dirty="0"/>
          </a:p>
          <a:p>
            <a:pPr marL="342900" indent="-342900">
              <a:spcAft>
                <a:spcPts val="800"/>
              </a:spcAft>
              <a:buSzPct val="100000"/>
              <a:buChar char="•"/>
            </a:pPr>
            <a:r>
              <a:rPr lang="en-US" sz="1250" dirty="0">
                <a:solidFill>
                  <a:srgbClr val="D1FAE5"/>
                </a:solidFill>
                <a:latin typeface="Calibri" pitchFamily="34" charset="0"/>
                <a:ea typeface="Calibri" pitchFamily="34" charset="-122"/>
                <a:cs typeface="Calibri" pitchFamily="34" charset="-120"/>
              </a:rPr>
              <a:t>Weather-driven changes</a:t>
            </a:r>
            <a:endParaRPr lang="en-US" sz="1250" dirty="0"/>
          </a:p>
          <a:p>
            <a:pPr marL="342900" indent="-342900">
              <a:spcAft>
                <a:spcPts val="800"/>
              </a:spcAft>
              <a:buSzPct val="100000"/>
              <a:buChar char="•"/>
            </a:pPr>
            <a:r>
              <a:rPr lang="en-US" sz="1250" dirty="0">
                <a:solidFill>
                  <a:srgbClr val="D1FAE5"/>
                </a:solidFill>
                <a:latin typeface="Calibri" pitchFamily="34" charset="0"/>
                <a:ea typeface="Calibri" pitchFamily="34" charset="-122"/>
                <a:cs typeface="Calibri" pitchFamily="34" charset="-120"/>
              </a:rPr>
              <a:t>Long-term growth trends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DF9"/>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lIns="0" tIns="0" rIns="0" bIns="0" rtlCol="0" anchor="ctr"/>
          <a:lstStyle/>
          <a:p>
            <a:pPr indent="0" marL="0">
              <a:buNone/>
            </a:pPr>
            <a:r>
              <a:rPr lang="en-US" sz="3400" b="1" dirty="0">
                <a:solidFill>
                  <a:srgbClr val="0F5132"/>
                </a:solidFill>
                <a:latin typeface="Cambria" pitchFamily="34" charset="0"/>
                <a:ea typeface="Cambria" pitchFamily="34" charset="-122"/>
                <a:cs typeface="Cambria" pitchFamily="34" charset="-120"/>
              </a:rPr>
              <a:t>The Solution: StockWise AI</a:t>
            </a:r>
            <a:endParaRPr lang="en-US" sz="3400" dirty="0"/>
          </a:p>
        </p:txBody>
      </p:sp>
      <p:sp>
        <p:nvSpPr>
          <p:cNvPr id="3" name="Text 1"/>
          <p:cNvSpPr/>
          <p:nvPr/>
        </p:nvSpPr>
        <p:spPr>
          <a:xfrm>
            <a:off x="548640" y="1024128"/>
            <a:ext cx="822960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From raw sales history to an automatic “reorder this much, today” recommendation.</a:t>
            </a:r>
            <a:endParaRPr lang="en-US" sz="1400" dirty="0"/>
          </a:p>
        </p:txBody>
      </p:sp>
      <p:sp>
        <p:nvSpPr>
          <p:cNvPr id="4" name="Shape 2"/>
          <p:cNvSpPr/>
          <p:nvPr/>
        </p:nvSpPr>
        <p:spPr>
          <a:xfrm>
            <a:off x="548640" y="1600200"/>
            <a:ext cx="4069080" cy="1325880"/>
          </a:xfrm>
          <a:prstGeom prst="roundRect">
            <a:avLst>
              <a:gd name="adj" fmla="val 5517"/>
            </a:avLst>
          </a:prstGeom>
          <a:solidFill>
            <a:srgbClr val="FFFFFF"/>
          </a:solidFill>
          <a:ln/>
          <a:effectLst>
            <a:outerShdw sx="100000" sy="100000" kx="0" ky="0" algn="bl" rotWithShape="0" blurRad="88900" dist="38100" dir="5400000">
              <a:srgbClr val="000000">
                <a:alpha val="12000"/>
              </a:srgbClr>
            </a:outerShdw>
          </a:effectLst>
        </p:spPr>
      </p:sp>
      <p:sp>
        <p:nvSpPr>
          <p:cNvPr id="5" name="Shape 3"/>
          <p:cNvSpPr/>
          <p:nvPr/>
        </p:nvSpPr>
        <p:spPr>
          <a:xfrm>
            <a:off x="749808" y="1819656"/>
            <a:ext cx="603504" cy="603504"/>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906719" y="1976567"/>
            <a:ext cx="289682" cy="289682"/>
          </a:xfrm>
          <a:prstGeom prst="rect">
            <a:avLst/>
          </a:prstGeom>
        </p:spPr>
      </p:pic>
      <p:sp>
        <p:nvSpPr>
          <p:cNvPr id="7" name="Text 4"/>
          <p:cNvSpPr/>
          <p:nvPr/>
        </p:nvSpPr>
        <p:spPr>
          <a:xfrm>
            <a:off x="1508760" y="1801368"/>
            <a:ext cx="2971800" cy="365760"/>
          </a:xfrm>
          <a:prstGeom prst="rect">
            <a:avLst/>
          </a:prstGeom>
          <a:noFill/>
          <a:ln/>
        </p:spPr>
        <p:txBody>
          <a:bodyPr wrap="square" lIns="0" tIns="0" rIns="0" bIns="0" rtlCol="0" anchor="ctr"/>
          <a:lstStyle/>
          <a:p>
            <a:pPr indent="0" marL="0">
              <a:buNone/>
            </a:pPr>
            <a:r>
              <a:rPr lang="en-US" sz="1600" b="1" dirty="0">
                <a:solidFill>
                  <a:srgbClr val="0F5132"/>
                </a:solidFill>
                <a:latin typeface="Calibri" pitchFamily="34" charset="0"/>
                <a:ea typeface="Calibri" pitchFamily="34" charset="-122"/>
                <a:cs typeface="Calibri" pitchFamily="34" charset="-120"/>
              </a:rPr>
              <a:t>Forecasts demand</a:t>
            </a:r>
            <a:endParaRPr lang="en-US" sz="1600" dirty="0"/>
          </a:p>
        </p:txBody>
      </p:sp>
      <p:sp>
        <p:nvSpPr>
          <p:cNvPr id="8" name="Text 5"/>
          <p:cNvSpPr/>
          <p:nvPr/>
        </p:nvSpPr>
        <p:spPr>
          <a:xfrm>
            <a:off x="1508760" y="2185416"/>
            <a:ext cx="2971800" cy="658368"/>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Predicts next 7 days of sales for each product using LSTM.</a:t>
            </a:r>
            <a:endParaRPr lang="en-US" sz="1200" dirty="0"/>
          </a:p>
        </p:txBody>
      </p:sp>
      <p:sp>
        <p:nvSpPr>
          <p:cNvPr id="9" name="Shape 6"/>
          <p:cNvSpPr/>
          <p:nvPr/>
        </p:nvSpPr>
        <p:spPr>
          <a:xfrm>
            <a:off x="4818888" y="1600200"/>
            <a:ext cx="4069080" cy="1325880"/>
          </a:xfrm>
          <a:prstGeom prst="roundRect">
            <a:avLst>
              <a:gd name="adj" fmla="val 5517"/>
            </a:avLst>
          </a:prstGeom>
          <a:solidFill>
            <a:srgbClr val="FFFFFF"/>
          </a:solidFill>
          <a:ln/>
          <a:effectLst>
            <a:outerShdw sx="100000" sy="100000" kx="0" ky="0" algn="bl" rotWithShape="0" blurRad="88900" dist="38100" dir="5400000">
              <a:srgbClr val="000000">
                <a:alpha val="12000"/>
              </a:srgbClr>
            </a:outerShdw>
          </a:effectLst>
        </p:spPr>
      </p:sp>
      <p:sp>
        <p:nvSpPr>
          <p:cNvPr id="10" name="Shape 7"/>
          <p:cNvSpPr/>
          <p:nvPr/>
        </p:nvSpPr>
        <p:spPr>
          <a:xfrm>
            <a:off x="5020056" y="1819656"/>
            <a:ext cx="603504" cy="603504"/>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5176967" y="1976567"/>
            <a:ext cx="289682" cy="289682"/>
          </a:xfrm>
          <a:prstGeom prst="rect">
            <a:avLst/>
          </a:prstGeom>
        </p:spPr>
      </p:pic>
      <p:sp>
        <p:nvSpPr>
          <p:cNvPr id="12" name="Text 8"/>
          <p:cNvSpPr/>
          <p:nvPr/>
        </p:nvSpPr>
        <p:spPr>
          <a:xfrm>
            <a:off x="5779008" y="1801368"/>
            <a:ext cx="2971800" cy="365760"/>
          </a:xfrm>
          <a:prstGeom prst="rect">
            <a:avLst/>
          </a:prstGeom>
          <a:noFill/>
          <a:ln/>
        </p:spPr>
        <p:txBody>
          <a:bodyPr wrap="square" lIns="0" tIns="0" rIns="0" bIns="0" rtlCol="0" anchor="ctr"/>
          <a:lstStyle/>
          <a:p>
            <a:pPr indent="0" marL="0">
              <a:buNone/>
            </a:pPr>
            <a:r>
              <a:rPr lang="en-US" sz="1600" b="1" dirty="0">
                <a:solidFill>
                  <a:srgbClr val="0F5132"/>
                </a:solidFill>
                <a:latin typeface="Calibri" pitchFamily="34" charset="0"/>
                <a:ea typeface="Calibri" pitchFamily="34" charset="-122"/>
                <a:cs typeface="Calibri" pitchFamily="34" charset="-120"/>
              </a:rPr>
              <a:t>Decides reorder</a:t>
            </a:r>
            <a:endParaRPr lang="en-US" sz="1600" dirty="0"/>
          </a:p>
        </p:txBody>
      </p:sp>
      <p:sp>
        <p:nvSpPr>
          <p:cNvPr id="13" name="Text 9"/>
          <p:cNvSpPr/>
          <p:nvPr/>
        </p:nvSpPr>
        <p:spPr>
          <a:xfrm>
            <a:off x="5779008" y="2185416"/>
            <a:ext cx="2971800" cy="658368"/>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 rule engine converts the forecast into APPROVE / REORDER / URGENT actions.</a:t>
            </a:r>
            <a:endParaRPr lang="en-US" sz="1200" dirty="0"/>
          </a:p>
        </p:txBody>
      </p:sp>
      <p:sp>
        <p:nvSpPr>
          <p:cNvPr id="14" name="Shape 10"/>
          <p:cNvSpPr/>
          <p:nvPr/>
        </p:nvSpPr>
        <p:spPr>
          <a:xfrm>
            <a:off x="548640" y="3127248"/>
            <a:ext cx="4069080" cy="1325880"/>
          </a:xfrm>
          <a:prstGeom prst="roundRect">
            <a:avLst>
              <a:gd name="adj" fmla="val 5517"/>
            </a:avLst>
          </a:prstGeom>
          <a:solidFill>
            <a:srgbClr val="FFFFFF"/>
          </a:solidFill>
          <a:ln/>
          <a:effectLst>
            <a:outerShdw sx="100000" sy="100000" kx="0" ky="0" algn="bl" rotWithShape="0" blurRad="88900" dist="38100" dir="5400000">
              <a:srgbClr val="000000">
                <a:alpha val="12000"/>
              </a:srgbClr>
            </a:outerShdw>
          </a:effectLst>
        </p:spPr>
      </p:sp>
      <p:sp>
        <p:nvSpPr>
          <p:cNvPr id="15" name="Shape 11"/>
          <p:cNvSpPr/>
          <p:nvPr/>
        </p:nvSpPr>
        <p:spPr>
          <a:xfrm>
            <a:off x="749808" y="3346704"/>
            <a:ext cx="603504" cy="603504"/>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16" name="Image 2" descr="preencoded.png">    </p:cNvPr>
          <p:cNvPicPr>
            <a:picLocks noChangeAspect="1"/>
          </p:cNvPicPr>
          <p:nvPr/>
        </p:nvPicPr>
        <p:blipFill>
          <a:blip r:embed="rId3"/>
          <a:stretch>
            <a:fillRect/>
          </a:stretch>
        </p:blipFill>
        <p:spPr>
          <a:xfrm>
            <a:off x="906719" y="3503615"/>
            <a:ext cx="289682" cy="289682"/>
          </a:xfrm>
          <a:prstGeom prst="rect">
            <a:avLst/>
          </a:prstGeom>
        </p:spPr>
      </p:pic>
      <p:sp>
        <p:nvSpPr>
          <p:cNvPr id="17" name="Text 12"/>
          <p:cNvSpPr/>
          <p:nvPr/>
        </p:nvSpPr>
        <p:spPr>
          <a:xfrm>
            <a:off x="1508760" y="3328416"/>
            <a:ext cx="2971800" cy="365760"/>
          </a:xfrm>
          <a:prstGeom prst="rect">
            <a:avLst/>
          </a:prstGeom>
          <a:noFill/>
          <a:ln/>
        </p:spPr>
        <p:txBody>
          <a:bodyPr wrap="square" lIns="0" tIns="0" rIns="0" bIns="0" rtlCol="0" anchor="ctr"/>
          <a:lstStyle/>
          <a:p>
            <a:pPr indent="0" marL="0">
              <a:buNone/>
            </a:pPr>
            <a:r>
              <a:rPr lang="en-US" sz="1600" b="1" dirty="0">
                <a:solidFill>
                  <a:srgbClr val="0F5132"/>
                </a:solidFill>
                <a:latin typeface="Calibri" pitchFamily="34" charset="0"/>
                <a:ea typeface="Calibri" pitchFamily="34" charset="-122"/>
                <a:cs typeface="Calibri" pitchFamily="34" charset="-120"/>
              </a:rPr>
              <a:t>Protects margin</a:t>
            </a:r>
            <a:endParaRPr lang="en-US" sz="1600" dirty="0"/>
          </a:p>
        </p:txBody>
      </p:sp>
      <p:sp>
        <p:nvSpPr>
          <p:cNvPr id="18" name="Text 13"/>
          <p:cNvSpPr/>
          <p:nvPr/>
        </p:nvSpPr>
        <p:spPr>
          <a:xfrm>
            <a:off x="1508760" y="3712464"/>
            <a:ext cx="2971800" cy="658368"/>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Cuts spoilage and prevents lost sales at the same time.</a:t>
            </a:r>
            <a:endParaRPr lang="en-US" sz="1200" dirty="0"/>
          </a:p>
        </p:txBody>
      </p:sp>
      <p:sp>
        <p:nvSpPr>
          <p:cNvPr id="19" name="Shape 14"/>
          <p:cNvSpPr/>
          <p:nvPr/>
        </p:nvSpPr>
        <p:spPr>
          <a:xfrm>
            <a:off x="4818888" y="3127248"/>
            <a:ext cx="4069080" cy="1325880"/>
          </a:xfrm>
          <a:prstGeom prst="roundRect">
            <a:avLst>
              <a:gd name="adj" fmla="val 5517"/>
            </a:avLst>
          </a:prstGeom>
          <a:solidFill>
            <a:srgbClr val="FFFFFF"/>
          </a:solidFill>
          <a:ln/>
          <a:effectLst>
            <a:outerShdw sx="100000" sy="100000" kx="0" ky="0" algn="bl" rotWithShape="0" blurRad="88900" dist="38100" dir="5400000">
              <a:srgbClr val="000000">
                <a:alpha val="12000"/>
              </a:srgbClr>
            </a:outerShdw>
          </a:effectLst>
        </p:spPr>
      </p:sp>
      <p:sp>
        <p:nvSpPr>
          <p:cNvPr id="20" name="Shape 15"/>
          <p:cNvSpPr/>
          <p:nvPr/>
        </p:nvSpPr>
        <p:spPr>
          <a:xfrm>
            <a:off x="5020056" y="3346704"/>
            <a:ext cx="603504" cy="603504"/>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21" name="Image 3" descr="preencoded.png">    </p:cNvPr>
          <p:cNvPicPr>
            <a:picLocks noChangeAspect="1"/>
          </p:cNvPicPr>
          <p:nvPr/>
        </p:nvPicPr>
        <p:blipFill>
          <a:blip r:embed="rId4"/>
          <a:stretch>
            <a:fillRect/>
          </a:stretch>
        </p:blipFill>
        <p:spPr>
          <a:xfrm>
            <a:off x="5176967" y="3503615"/>
            <a:ext cx="289682" cy="289682"/>
          </a:xfrm>
          <a:prstGeom prst="rect">
            <a:avLst/>
          </a:prstGeom>
        </p:spPr>
      </p:pic>
      <p:sp>
        <p:nvSpPr>
          <p:cNvPr id="22" name="Text 16"/>
          <p:cNvSpPr/>
          <p:nvPr/>
        </p:nvSpPr>
        <p:spPr>
          <a:xfrm>
            <a:off x="5779008" y="3328416"/>
            <a:ext cx="2971800" cy="365760"/>
          </a:xfrm>
          <a:prstGeom prst="rect">
            <a:avLst/>
          </a:prstGeom>
          <a:noFill/>
          <a:ln/>
        </p:spPr>
        <p:txBody>
          <a:bodyPr wrap="square" lIns="0" tIns="0" rIns="0" bIns="0" rtlCol="0" anchor="ctr"/>
          <a:lstStyle/>
          <a:p>
            <a:pPr indent="0" marL="0">
              <a:buNone/>
            </a:pPr>
            <a:r>
              <a:rPr lang="en-US" sz="1600" b="1" dirty="0">
                <a:solidFill>
                  <a:srgbClr val="0F5132"/>
                </a:solidFill>
                <a:latin typeface="Calibri" pitchFamily="34" charset="0"/>
                <a:ea typeface="Calibri" pitchFamily="34" charset="-122"/>
                <a:cs typeface="Calibri" pitchFamily="34" charset="-120"/>
              </a:rPr>
              <a:t>Works per store</a:t>
            </a:r>
            <a:endParaRPr lang="en-US" sz="1600" dirty="0"/>
          </a:p>
        </p:txBody>
      </p:sp>
      <p:sp>
        <p:nvSpPr>
          <p:cNvPr id="23" name="Text 17"/>
          <p:cNvSpPr/>
          <p:nvPr/>
        </p:nvSpPr>
        <p:spPr>
          <a:xfrm>
            <a:off x="5779008" y="3712464"/>
            <a:ext cx="2971800" cy="658368"/>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Trains per product per branch — Dubai Marina ≠ Deira.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lIns="0" tIns="0" rIns="0" bIns="0" rtlCol="0" anchor="ctr"/>
          <a:lstStyle/>
          <a:p>
            <a:pPr indent="0" marL="0">
              <a:buNone/>
            </a:pPr>
            <a:r>
              <a:rPr lang="en-US" sz="3400" b="1" dirty="0">
                <a:solidFill>
                  <a:srgbClr val="0F5132"/>
                </a:solidFill>
                <a:latin typeface="Cambria" pitchFamily="34" charset="0"/>
                <a:ea typeface="Cambria" pitchFamily="34" charset="-122"/>
                <a:cs typeface="Cambria" pitchFamily="34" charset="-120"/>
              </a:rPr>
              <a:t>System Architecture</a:t>
            </a:r>
            <a:endParaRPr lang="en-US" sz="3400" dirty="0"/>
          </a:p>
        </p:txBody>
      </p:sp>
      <p:sp>
        <p:nvSpPr>
          <p:cNvPr id="3" name="Text 1"/>
          <p:cNvSpPr/>
          <p:nvPr/>
        </p:nvSpPr>
        <p:spPr>
          <a:xfrm>
            <a:off x="548640" y="1024128"/>
            <a:ext cx="8229600" cy="36576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End-to-end pipeline — five stages from POS data to a store-ready dashboard.</a:t>
            </a:r>
            <a:endParaRPr lang="en-US" sz="1350" dirty="0"/>
          </a:p>
        </p:txBody>
      </p:sp>
      <p:sp>
        <p:nvSpPr>
          <p:cNvPr id="4" name="Shape 2"/>
          <p:cNvSpPr/>
          <p:nvPr/>
        </p:nvSpPr>
        <p:spPr>
          <a:xfrm>
            <a:off x="502920" y="1965960"/>
            <a:ext cx="1554480" cy="1691640"/>
          </a:xfrm>
          <a:prstGeom prst="roundRect">
            <a:avLst>
              <a:gd name="adj" fmla="val 5294"/>
            </a:avLst>
          </a:prstGeom>
          <a:solidFill>
            <a:srgbClr val="F6FBF8"/>
          </a:solidFill>
          <a:ln/>
          <a:effectLst>
            <a:outerShdw sx="100000" sy="100000" kx="0" ky="0" algn="bl" rotWithShape="0" blurRad="88900" dist="38100" dir="5400000">
              <a:srgbClr val="000000">
                <a:alpha val="12000"/>
              </a:srgbClr>
            </a:outerShdw>
          </a:effectLst>
        </p:spPr>
      </p:sp>
      <p:sp>
        <p:nvSpPr>
          <p:cNvPr id="5" name="Shape 3"/>
          <p:cNvSpPr/>
          <p:nvPr/>
        </p:nvSpPr>
        <p:spPr>
          <a:xfrm>
            <a:off x="978408" y="2167128"/>
            <a:ext cx="603504" cy="603504"/>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1135319" y="2324039"/>
            <a:ext cx="289682" cy="289682"/>
          </a:xfrm>
          <a:prstGeom prst="rect">
            <a:avLst/>
          </a:prstGeom>
        </p:spPr>
      </p:pic>
      <p:sp>
        <p:nvSpPr>
          <p:cNvPr id="7" name="Text 4"/>
          <p:cNvSpPr/>
          <p:nvPr/>
        </p:nvSpPr>
        <p:spPr>
          <a:xfrm>
            <a:off x="557784" y="2862072"/>
            <a:ext cx="1444752" cy="320040"/>
          </a:xfrm>
          <a:prstGeom prst="rect">
            <a:avLst/>
          </a:prstGeom>
          <a:noFill/>
          <a:ln/>
        </p:spPr>
        <p:txBody>
          <a:bodyPr wrap="square" lIns="0" tIns="0" rIns="0" bIns="0" rtlCol="0" anchor="ctr"/>
          <a:lstStyle/>
          <a:p>
            <a:pPr algn="ctr" indent="0" marL="0">
              <a:buNone/>
            </a:pPr>
            <a:r>
              <a:rPr lang="en-US" sz="1250" b="1" dirty="0">
                <a:solidFill>
                  <a:srgbClr val="0F5132"/>
                </a:solidFill>
                <a:latin typeface="Calibri" pitchFamily="34" charset="0"/>
                <a:ea typeface="Calibri" pitchFamily="34" charset="-122"/>
                <a:cs typeface="Calibri" pitchFamily="34" charset="-120"/>
              </a:rPr>
              <a:t>Data Layer</a:t>
            </a:r>
            <a:endParaRPr lang="en-US" sz="1250" dirty="0"/>
          </a:p>
        </p:txBody>
      </p:sp>
      <p:sp>
        <p:nvSpPr>
          <p:cNvPr id="8" name="Text 5"/>
          <p:cNvSpPr/>
          <p:nvPr/>
        </p:nvSpPr>
        <p:spPr>
          <a:xfrm>
            <a:off x="594360" y="3154680"/>
            <a:ext cx="1371600" cy="457200"/>
          </a:xfrm>
          <a:prstGeom prst="rect">
            <a:avLst/>
          </a:prstGeom>
          <a:noFill/>
          <a:ln/>
        </p:spPr>
        <p:txBody>
          <a:bodyPr wrap="square" lIns="0" tIns="0" rIns="0" bIns="0" rtlCol="0" anchor="ctr"/>
          <a:lstStyle/>
          <a:p>
            <a:pPr algn="ctr" indent="0" marL="0">
              <a:buNone/>
            </a:pPr>
            <a:r>
              <a:rPr lang="en-US" sz="930" dirty="0">
                <a:solidFill>
                  <a:srgbClr val="64748B"/>
                </a:solidFill>
                <a:latin typeface="Calibri" pitchFamily="34" charset="0"/>
                <a:ea typeface="Calibri" pitchFamily="34" charset="-122"/>
                <a:cs typeface="Calibri" pitchFamily="34" charset="-120"/>
              </a:rPr>
              <a:t>POS sales, calendar, weather, promotions</a:t>
            </a:r>
            <a:endParaRPr lang="en-US" sz="930" dirty="0"/>
          </a:p>
        </p:txBody>
      </p:sp>
      <p:sp>
        <p:nvSpPr>
          <p:cNvPr id="9" name="Shape 6"/>
          <p:cNvSpPr/>
          <p:nvPr/>
        </p:nvSpPr>
        <p:spPr>
          <a:xfrm>
            <a:off x="2061972" y="2720340"/>
            <a:ext cx="128016" cy="182880"/>
          </a:xfrm>
          <a:prstGeom prst="rtTriangle">
            <a:avLst/>
          </a:prstGeom>
          <a:solidFill>
            <a:srgbClr val="F59E0B"/>
          </a:solidFill>
          <a:ln/>
        </p:spPr>
      </p:sp>
      <p:sp>
        <p:nvSpPr>
          <p:cNvPr id="10" name="Shape 7"/>
          <p:cNvSpPr/>
          <p:nvPr/>
        </p:nvSpPr>
        <p:spPr>
          <a:xfrm>
            <a:off x="2203704" y="1965960"/>
            <a:ext cx="1554480" cy="1691640"/>
          </a:xfrm>
          <a:prstGeom prst="roundRect">
            <a:avLst>
              <a:gd name="adj" fmla="val 5294"/>
            </a:avLst>
          </a:prstGeom>
          <a:solidFill>
            <a:srgbClr val="F6FBF8"/>
          </a:solidFill>
          <a:ln/>
          <a:effectLst>
            <a:outerShdw sx="100000" sy="100000" kx="0" ky="0" algn="bl" rotWithShape="0" blurRad="88900" dist="38100" dir="5400000">
              <a:srgbClr val="000000">
                <a:alpha val="12000"/>
              </a:srgbClr>
            </a:outerShdw>
          </a:effectLst>
        </p:spPr>
      </p:sp>
      <p:sp>
        <p:nvSpPr>
          <p:cNvPr id="11" name="Shape 8"/>
          <p:cNvSpPr/>
          <p:nvPr/>
        </p:nvSpPr>
        <p:spPr>
          <a:xfrm>
            <a:off x="2679192" y="2167128"/>
            <a:ext cx="603504" cy="603504"/>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12" name="Image 1" descr="preencoded.png">    </p:cNvPr>
          <p:cNvPicPr>
            <a:picLocks noChangeAspect="1"/>
          </p:cNvPicPr>
          <p:nvPr/>
        </p:nvPicPr>
        <p:blipFill>
          <a:blip r:embed="rId2"/>
          <a:stretch>
            <a:fillRect/>
          </a:stretch>
        </p:blipFill>
        <p:spPr>
          <a:xfrm>
            <a:off x="2836103" y="2324039"/>
            <a:ext cx="289682" cy="289682"/>
          </a:xfrm>
          <a:prstGeom prst="rect">
            <a:avLst/>
          </a:prstGeom>
        </p:spPr>
      </p:pic>
      <p:sp>
        <p:nvSpPr>
          <p:cNvPr id="13" name="Text 9"/>
          <p:cNvSpPr/>
          <p:nvPr/>
        </p:nvSpPr>
        <p:spPr>
          <a:xfrm>
            <a:off x="2258568" y="2862072"/>
            <a:ext cx="1444752" cy="320040"/>
          </a:xfrm>
          <a:prstGeom prst="rect">
            <a:avLst/>
          </a:prstGeom>
          <a:noFill/>
          <a:ln/>
        </p:spPr>
        <p:txBody>
          <a:bodyPr wrap="square" lIns="0" tIns="0" rIns="0" bIns="0" rtlCol="0" anchor="ctr"/>
          <a:lstStyle/>
          <a:p>
            <a:pPr algn="ctr" indent="0" marL="0">
              <a:buNone/>
            </a:pPr>
            <a:r>
              <a:rPr lang="en-US" sz="1250" b="1" dirty="0">
                <a:solidFill>
                  <a:srgbClr val="0F5132"/>
                </a:solidFill>
                <a:latin typeface="Calibri" pitchFamily="34" charset="0"/>
                <a:ea typeface="Calibri" pitchFamily="34" charset="-122"/>
                <a:cs typeface="Calibri" pitchFamily="34" charset="-120"/>
              </a:rPr>
              <a:t>Preprocess</a:t>
            </a:r>
            <a:endParaRPr lang="en-US" sz="1250" dirty="0"/>
          </a:p>
        </p:txBody>
      </p:sp>
      <p:sp>
        <p:nvSpPr>
          <p:cNvPr id="14" name="Text 10"/>
          <p:cNvSpPr/>
          <p:nvPr/>
        </p:nvSpPr>
        <p:spPr>
          <a:xfrm>
            <a:off x="2295144" y="3154680"/>
            <a:ext cx="1371600" cy="457200"/>
          </a:xfrm>
          <a:prstGeom prst="rect">
            <a:avLst/>
          </a:prstGeom>
          <a:noFill/>
          <a:ln/>
        </p:spPr>
        <p:txBody>
          <a:bodyPr wrap="square" lIns="0" tIns="0" rIns="0" bIns="0" rtlCol="0" anchor="ctr"/>
          <a:lstStyle/>
          <a:p>
            <a:pPr algn="ctr" indent="0" marL="0">
              <a:buNone/>
            </a:pPr>
            <a:r>
              <a:rPr lang="en-US" sz="930" dirty="0">
                <a:solidFill>
                  <a:srgbClr val="64748B"/>
                </a:solidFill>
                <a:latin typeface="Calibri" pitchFamily="34" charset="0"/>
                <a:ea typeface="Calibri" pitchFamily="34" charset="-122"/>
                <a:cs typeface="Calibri" pitchFamily="34" charset="-120"/>
              </a:rPr>
              <a:t>Clean, scale, build 30-day windows</a:t>
            </a:r>
            <a:endParaRPr lang="en-US" sz="930" dirty="0"/>
          </a:p>
        </p:txBody>
      </p:sp>
      <p:sp>
        <p:nvSpPr>
          <p:cNvPr id="15" name="Shape 11"/>
          <p:cNvSpPr/>
          <p:nvPr/>
        </p:nvSpPr>
        <p:spPr>
          <a:xfrm>
            <a:off x="3762756" y="2720340"/>
            <a:ext cx="128016" cy="182880"/>
          </a:xfrm>
          <a:prstGeom prst="rtTriangle">
            <a:avLst/>
          </a:prstGeom>
          <a:solidFill>
            <a:srgbClr val="F59E0B"/>
          </a:solidFill>
          <a:ln/>
        </p:spPr>
      </p:sp>
      <p:sp>
        <p:nvSpPr>
          <p:cNvPr id="16" name="Shape 12"/>
          <p:cNvSpPr/>
          <p:nvPr/>
        </p:nvSpPr>
        <p:spPr>
          <a:xfrm>
            <a:off x="3904488" y="1965960"/>
            <a:ext cx="1554480" cy="1691640"/>
          </a:xfrm>
          <a:prstGeom prst="roundRect">
            <a:avLst>
              <a:gd name="adj" fmla="val 5294"/>
            </a:avLst>
          </a:prstGeom>
          <a:solidFill>
            <a:srgbClr val="0F5132"/>
          </a:solidFill>
          <a:ln/>
          <a:effectLst>
            <a:outerShdw sx="100000" sy="100000" kx="0" ky="0" algn="bl" rotWithShape="0" blurRad="88900" dist="38100" dir="5400000">
              <a:srgbClr val="000000">
                <a:alpha val="12000"/>
              </a:srgbClr>
            </a:outerShdw>
          </a:effectLst>
        </p:spPr>
      </p:sp>
      <p:sp>
        <p:nvSpPr>
          <p:cNvPr id="17" name="Shape 13"/>
          <p:cNvSpPr/>
          <p:nvPr/>
        </p:nvSpPr>
        <p:spPr>
          <a:xfrm>
            <a:off x="4379976" y="2167128"/>
            <a:ext cx="603504" cy="603504"/>
          </a:xfrm>
          <a:prstGeom prst="ellipse">
            <a:avLst/>
          </a:prstGeom>
          <a:solidFill>
            <a:srgbClr val="F59E0B"/>
          </a:solidFill>
          <a:ln/>
          <a:effectLst>
            <a:outerShdw sx="100000" sy="100000" kx="0" ky="0" algn="bl" rotWithShape="0" blurRad="88900" dist="38100" dir="5400000">
              <a:srgbClr val="000000">
                <a:alpha val="12000"/>
              </a:srgbClr>
            </a:outerShdw>
          </a:effectLst>
        </p:spPr>
      </p:sp>
      <p:pic>
        <p:nvPicPr>
          <p:cNvPr id="18" name="Image 2" descr="preencoded.png">    </p:cNvPr>
          <p:cNvPicPr>
            <a:picLocks noChangeAspect="1"/>
          </p:cNvPicPr>
          <p:nvPr/>
        </p:nvPicPr>
        <p:blipFill>
          <a:blip r:embed="rId3"/>
          <a:stretch>
            <a:fillRect/>
          </a:stretch>
        </p:blipFill>
        <p:spPr>
          <a:xfrm>
            <a:off x="4536887" y="2324039"/>
            <a:ext cx="289682" cy="289682"/>
          </a:xfrm>
          <a:prstGeom prst="rect">
            <a:avLst/>
          </a:prstGeom>
        </p:spPr>
      </p:pic>
      <p:sp>
        <p:nvSpPr>
          <p:cNvPr id="19" name="Text 14"/>
          <p:cNvSpPr/>
          <p:nvPr/>
        </p:nvSpPr>
        <p:spPr>
          <a:xfrm>
            <a:off x="3959352" y="2862072"/>
            <a:ext cx="144475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LSTM Model</a:t>
            </a:r>
            <a:endParaRPr lang="en-US" sz="1250" dirty="0"/>
          </a:p>
        </p:txBody>
      </p:sp>
      <p:sp>
        <p:nvSpPr>
          <p:cNvPr id="20" name="Text 15"/>
          <p:cNvSpPr/>
          <p:nvPr/>
        </p:nvSpPr>
        <p:spPr>
          <a:xfrm>
            <a:off x="3995928" y="3154680"/>
            <a:ext cx="1371600" cy="457200"/>
          </a:xfrm>
          <a:prstGeom prst="rect">
            <a:avLst/>
          </a:prstGeom>
          <a:noFill/>
          <a:ln/>
        </p:spPr>
        <p:txBody>
          <a:bodyPr wrap="square" lIns="0" tIns="0" rIns="0" bIns="0" rtlCol="0" anchor="ctr"/>
          <a:lstStyle/>
          <a:p>
            <a:pPr algn="ctr" indent="0" marL="0">
              <a:buNone/>
            </a:pPr>
            <a:r>
              <a:rPr lang="en-US" sz="930" dirty="0">
                <a:solidFill>
                  <a:srgbClr val="D1FAE5"/>
                </a:solidFill>
                <a:latin typeface="Calibri" pitchFamily="34" charset="0"/>
                <a:ea typeface="Calibri" pitchFamily="34" charset="-122"/>
                <a:cs typeface="Calibri" pitchFamily="34" charset="-120"/>
              </a:rPr>
              <a:t>Trained network forecasts next 7 days</a:t>
            </a:r>
            <a:endParaRPr lang="en-US" sz="930" dirty="0"/>
          </a:p>
        </p:txBody>
      </p:sp>
      <p:sp>
        <p:nvSpPr>
          <p:cNvPr id="21" name="Shape 16"/>
          <p:cNvSpPr/>
          <p:nvPr/>
        </p:nvSpPr>
        <p:spPr>
          <a:xfrm>
            <a:off x="5463540" y="2720340"/>
            <a:ext cx="128016" cy="182880"/>
          </a:xfrm>
          <a:prstGeom prst="rtTriangle">
            <a:avLst/>
          </a:prstGeom>
          <a:solidFill>
            <a:srgbClr val="F59E0B"/>
          </a:solidFill>
          <a:ln/>
        </p:spPr>
      </p:sp>
      <p:sp>
        <p:nvSpPr>
          <p:cNvPr id="22" name="Shape 17"/>
          <p:cNvSpPr/>
          <p:nvPr/>
        </p:nvSpPr>
        <p:spPr>
          <a:xfrm>
            <a:off x="5605272" y="1965960"/>
            <a:ext cx="1554480" cy="1691640"/>
          </a:xfrm>
          <a:prstGeom prst="roundRect">
            <a:avLst>
              <a:gd name="adj" fmla="val 5294"/>
            </a:avLst>
          </a:prstGeom>
          <a:solidFill>
            <a:srgbClr val="0F5132"/>
          </a:solidFill>
          <a:ln/>
          <a:effectLst>
            <a:outerShdw sx="100000" sy="100000" kx="0" ky="0" algn="bl" rotWithShape="0" blurRad="88900" dist="38100" dir="5400000">
              <a:srgbClr val="000000">
                <a:alpha val="12000"/>
              </a:srgbClr>
            </a:outerShdw>
          </a:effectLst>
        </p:spPr>
      </p:sp>
      <p:sp>
        <p:nvSpPr>
          <p:cNvPr id="23" name="Shape 18"/>
          <p:cNvSpPr/>
          <p:nvPr/>
        </p:nvSpPr>
        <p:spPr>
          <a:xfrm>
            <a:off x="6080760" y="2167128"/>
            <a:ext cx="603504" cy="603504"/>
          </a:xfrm>
          <a:prstGeom prst="ellipse">
            <a:avLst/>
          </a:prstGeom>
          <a:solidFill>
            <a:srgbClr val="F59E0B"/>
          </a:solidFill>
          <a:ln/>
          <a:effectLst>
            <a:outerShdw sx="100000" sy="100000" kx="0" ky="0" algn="bl" rotWithShape="0" blurRad="88900" dist="38100" dir="5400000">
              <a:srgbClr val="000000">
                <a:alpha val="12000"/>
              </a:srgbClr>
            </a:outerShdw>
          </a:effectLst>
        </p:spPr>
      </p:sp>
      <p:pic>
        <p:nvPicPr>
          <p:cNvPr id="24" name="Image 3" descr="preencoded.png">    </p:cNvPr>
          <p:cNvPicPr>
            <a:picLocks noChangeAspect="1"/>
          </p:cNvPicPr>
          <p:nvPr/>
        </p:nvPicPr>
        <p:blipFill>
          <a:blip r:embed="rId4"/>
          <a:stretch>
            <a:fillRect/>
          </a:stretch>
        </p:blipFill>
        <p:spPr>
          <a:xfrm>
            <a:off x="6237671" y="2324039"/>
            <a:ext cx="289682" cy="289682"/>
          </a:xfrm>
          <a:prstGeom prst="rect">
            <a:avLst/>
          </a:prstGeom>
        </p:spPr>
      </p:pic>
      <p:sp>
        <p:nvSpPr>
          <p:cNvPr id="25" name="Text 19"/>
          <p:cNvSpPr/>
          <p:nvPr/>
        </p:nvSpPr>
        <p:spPr>
          <a:xfrm>
            <a:off x="5660136" y="2862072"/>
            <a:ext cx="144475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Decision Engine</a:t>
            </a:r>
            <a:endParaRPr lang="en-US" sz="1250" dirty="0"/>
          </a:p>
        </p:txBody>
      </p:sp>
      <p:sp>
        <p:nvSpPr>
          <p:cNvPr id="26" name="Text 20"/>
          <p:cNvSpPr/>
          <p:nvPr/>
        </p:nvSpPr>
        <p:spPr>
          <a:xfrm>
            <a:off x="5696712" y="3154680"/>
            <a:ext cx="1371600" cy="457200"/>
          </a:xfrm>
          <a:prstGeom prst="rect">
            <a:avLst/>
          </a:prstGeom>
          <a:noFill/>
          <a:ln/>
        </p:spPr>
        <p:txBody>
          <a:bodyPr wrap="square" lIns="0" tIns="0" rIns="0" bIns="0" rtlCol="0" anchor="ctr"/>
          <a:lstStyle/>
          <a:p>
            <a:pPr algn="ctr" indent="0" marL="0">
              <a:buNone/>
            </a:pPr>
            <a:r>
              <a:rPr lang="en-US" sz="930" dirty="0">
                <a:solidFill>
                  <a:srgbClr val="D1FAE5"/>
                </a:solidFill>
                <a:latin typeface="Calibri" pitchFamily="34" charset="0"/>
                <a:ea typeface="Calibri" pitchFamily="34" charset="-122"/>
                <a:cs typeface="Calibri" pitchFamily="34" charset="-120"/>
              </a:rPr>
              <a:t>Rules → Approve / Reorder / Urgent</a:t>
            </a:r>
            <a:endParaRPr lang="en-US" sz="930" dirty="0"/>
          </a:p>
        </p:txBody>
      </p:sp>
      <p:sp>
        <p:nvSpPr>
          <p:cNvPr id="27" name="Shape 21"/>
          <p:cNvSpPr/>
          <p:nvPr/>
        </p:nvSpPr>
        <p:spPr>
          <a:xfrm>
            <a:off x="7164324" y="2720340"/>
            <a:ext cx="128016" cy="182880"/>
          </a:xfrm>
          <a:prstGeom prst="rtTriangle">
            <a:avLst/>
          </a:prstGeom>
          <a:solidFill>
            <a:srgbClr val="F59E0B"/>
          </a:solidFill>
          <a:ln/>
        </p:spPr>
      </p:sp>
      <p:sp>
        <p:nvSpPr>
          <p:cNvPr id="28" name="Shape 22"/>
          <p:cNvSpPr/>
          <p:nvPr/>
        </p:nvSpPr>
        <p:spPr>
          <a:xfrm>
            <a:off x="7306056" y="1965960"/>
            <a:ext cx="1554480" cy="1691640"/>
          </a:xfrm>
          <a:prstGeom prst="roundRect">
            <a:avLst>
              <a:gd name="adj" fmla="val 5294"/>
            </a:avLst>
          </a:prstGeom>
          <a:solidFill>
            <a:srgbClr val="F6FBF8"/>
          </a:solidFill>
          <a:ln/>
          <a:effectLst>
            <a:outerShdw sx="100000" sy="100000" kx="0" ky="0" algn="bl" rotWithShape="0" blurRad="88900" dist="38100" dir="5400000">
              <a:srgbClr val="000000">
                <a:alpha val="12000"/>
              </a:srgbClr>
            </a:outerShdw>
          </a:effectLst>
        </p:spPr>
      </p:sp>
      <p:sp>
        <p:nvSpPr>
          <p:cNvPr id="29" name="Shape 23"/>
          <p:cNvSpPr/>
          <p:nvPr/>
        </p:nvSpPr>
        <p:spPr>
          <a:xfrm>
            <a:off x="7781544" y="2167128"/>
            <a:ext cx="603504" cy="603504"/>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30" name="Image 4" descr="preencoded.png">    </p:cNvPr>
          <p:cNvPicPr>
            <a:picLocks noChangeAspect="1"/>
          </p:cNvPicPr>
          <p:nvPr/>
        </p:nvPicPr>
        <p:blipFill>
          <a:blip r:embed="rId5"/>
          <a:stretch>
            <a:fillRect/>
          </a:stretch>
        </p:blipFill>
        <p:spPr>
          <a:xfrm>
            <a:off x="7938455" y="2324039"/>
            <a:ext cx="289682" cy="289682"/>
          </a:xfrm>
          <a:prstGeom prst="rect">
            <a:avLst/>
          </a:prstGeom>
        </p:spPr>
      </p:pic>
      <p:sp>
        <p:nvSpPr>
          <p:cNvPr id="31" name="Text 24"/>
          <p:cNvSpPr/>
          <p:nvPr/>
        </p:nvSpPr>
        <p:spPr>
          <a:xfrm>
            <a:off x="7360920" y="2862072"/>
            <a:ext cx="1444752" cy="320040"/>
          </a:xfrm>
          <a:prstGeom prst="rect">
            <a:avLst/>
          </a:prstGeom>
          <a:noFill/>
          <a:ln/>
        </p:spPr>
        <p:txBody>
          <a:bodyPr wrap="square" lIns="0" tIns="0" rIns="0" bIns="0" rtlCol="0" anchor="ctr"/>
          <a:lstStyle/>
          <a:p>
            <a:pPr algn="ctr" indent="0" marL="0">
              <a:buNone/>
            </a:pPr>
            <a:r>
              <a:rPr lang="en-US" sz="1250" b="1" dirty="0">
                <a:solidFill>
                  <a:srgbClr val="0F5132"/>
                </a:solidFill>
                <a:latin typeface="Calibri" pitchFamily="34" charset="0"/>
                <a:ea typeface="Calibri" pitchFamily="34" charset="-122"/>
                <a:cs typeface="Calibri" pitchFamily="34" charset="-120"/>
              </a:rPr>
              <a:t>Dashboard</a:t>
            </a:r>
            <a:endParaRPr lang="en-US" sz="1250" dirty="0"/>
          </a:p>
        </p:txBody>
      </p:sp>
      <p:sp>
        <p:nvSpPr>
          <p:cNvPr id="32" name="Text 25"/>
          <p:cNvSpPr/>
          <p:nvPr/>
        </p:nvSpPr>
        <p:spPr>
          <a:xfrm>
            <a:off x="7397496" y="3154680"/>
            <a:ext cx="1371600" cy="457200"/>
          </a:xfrm>
          <a:prstGeom prst="rect">
            <a:avLst/>
          </a:prstGeom>
          <a:noFill/>
          <a:ln/>
        </p:spPr>
        <p:txBody>
          <a:bodyPr wrap="square" lIns="0" tIns="0" rIns="0" bIns="0" rtlCol="0" anchor="ctr"/>
          <a:lstStyle/>
          <a:p>
            <a:pPr algn="ctr" indent="0" marL="0">
              <a:buNone/>
            </a:pPr>
            <a:r>
              <a:rPr lang="en-US" sz="930" dirty="0">
                <a:solidFill>
                  <a:srgbClr val="64748B"/>
                </a:solidFill>
                <a:latin typeface="Calibri" pitchFamily="34" charset="0"/>
                <a:ea typeface="Calibri" pitchFamily="34" charset="-122"/>
                <a:cs typeface="Calibri" pitchFamily="34" charset="-120"/>
              </a:rPr>
              <a:t>Streamlit view + alerts for the manager</a:t>
            </a:r>
            <a:endParaRPr lang="en-US" sz="930" dirty="0"/>
          </a:p>
        </p:txBody>
      </p:sp>
      <p:sp>
        <p:nvSpPr>
          <p:cNvPr id="33" name="Text 26"/>
          <p:cNvSpPr/>
          <p:nvPr/>
        </p:nvSpPr>
        <p:spPr>
          <a:xfrm>
            <a:off x="502920" y="4160520"/>
            <a:ext cx="8229600" cy="365760"/>
          </a:xfrm>
          <a:prstGeom prst="rect">
            <a:avLst/>
          </a:prstGeom>
          <a:noFill/>
          <a:ln/>
        </p:spPr>
        <p:txBody>
          <a:bodyPr wrap="square" lIns="0" tIns="0" rIns="0" bIns="0" rtlCol="0" anchor="ctr"/>
          <a:lstStyle/>
          <a:p>
            <a:pPr algn="ctr" indent="0" marL="0">
              <a:buNone/>
            </a:pPr>
            <a:r>
              <a:rPr lang="en-US" sz="1200" b="1" dirty="0">
                <a:solidFill>
                  <a:srgbClr val="157347"/>
                </a:solidFill>
                <a:latin typeface="Calibri" pitchFamily="34" charset="0"/>
                <a:ea typeface="Calibri" pitchFamily="34" charset="-122"/>
                <a:cs typeface="Calibri" pitchFamily="34" charset="-120"/>
              </a:rPr>
              <a:t>Tech stack:  Python · TensorFlow/Keras · Pandas · scikit-learn · FastAPI · Streamlit · SQLite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lIns="0" tIns="0" rIns="0" bIns="0" rtlCol="0" anchor="ctr"/>
          <a:lstStyle/>
          <a:p>
            <a:pPr indent="0" marL="0">
              <a:buNone/>
            </a:pPr>
            <a:r>
              <a:rPr lang="en-US" sz="3400" b="1" dirty="0">
                <a:solidFill>
                  <a:srgbClr val="0F5132"/>
                </a:solidFill>
                <a:latin typeface="Cambria" pitchFamily="34" charset="0"/>
                <a:ea typeface="Cambria" pitchFamily="34" charset="-122"/>
                <a:cs typeface="Cambria" pitchFamily="34" charset="-120"/>
              </a:rPr>
              <a:t>The Dataset</a:t>
            </a:r>
            <a:endParaRPr lang="en-US" sz="3400" dirty="0"/>
          </a:p>
        </p:txBody>
      </p:sp>
      <p:sp>
        <p:nvSpPr>
          <p:cNvPr id="3" name="Text 1"/>
          <p:cNvSpPr/>
          <p:nvPr/>
        </p:nvSpPr>
        <p:spPr>
          <a:xfrm>
            <a:off x="548640" y="1024128"/>
            <a:ext cx="8229600" cy="36576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Two years of daily sales for a UAE grocery chain — real schema, synthetically generated so it's shareable.</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4572000" cy="914400"/>
        </p:xfrm>
        <a:graphic>
          <a:graphicData uri="http://schemas.openxmlformats.org/drawingml/2006/table">
            <a:tbl>
              <a:tblPr/>
              <a:tblGrid>
                <a:gridCol w="1737360"/>
                <a:gridCol w="1417320"/>
                <a:gridCol w="1417320"/>
              </a:tblGrid>
              <a:tr h="269748">
                <a:tc>
                  <a:txBody>
                    <a:bodyPr/>
                    <a:lstStyle/>
                    <a:p>
                      <a:pPr algn="l" indent="0" marL="0">
                        <a:buNone/>
                      </a:pPr>
                      <a:r>
                        <a:rPr lang="en-US" sz="1100" b="1" dirty="0">
                          <a:solidFill>
                            <a:srgbClr val="1E293B"/>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E293B"/>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E293B"/>
                          </a:solidFill>
                          <a:latin typeface="Calibri" pitchFamily="34" charset="0"/>
                          <a:ea typeface="Calibri" pitchFamily="34" charset="-122"/>
                          <a:cs typeface="Calibri" pitchFamily="34" charset="-120"/>
                        </a:rPr>
                        <a:t>Example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9748">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datetime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2024-11-22</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9748">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product_id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MILK_1L</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9748">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store_id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DXB_MARINA</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9748">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units_sold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target (y)</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142</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9748">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is_weekend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binary</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9748">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is_payday</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binary</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9748">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is_holiday</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binary</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1 (Eid)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9748">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promo_flag</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binary</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9748">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avg_temp_c</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numeric</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34.5</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1554480"/>
            <a:ext cx="4572000" cy="274320"/>
          </a:xfrm>
          <a:prstGeom prst="rect">
            <a:avLst/>
          </a:prstGeom>
          <a:solidFill>
            <a:srgbClr val="0F5132"/>
          </a:solidFill>
          <a:ln w="12700">
            <a:solidFill>
              <a:srgbClr val="0F5132"/>
            </a:solidFill>
            <a:prstDash val="solid"/>
          </a:ln>
        </p:spPr>
      </p:sp>
      <p:sp>
        <p:nvSpPr>
          <p:cNvPr id="6" name="Text 3"/>
          <p:cNvSpPr/>
          <p:nvPr/>
        </p:nvSpPr>
        <p:spPr>
          <a:xfrm>
            <a:off x="658368" y="1554480"/>
            <a:ext cx="16459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p>
        </p:txBody>
      </p:sp>
      <p:sp>
        <p:nvSpPr>
          <p:cNvPr id="7" name="Text 4"/>
          <p:cNvSpPr/>
          <p:nvPr/>
        </p:nvSpPr>
        <p:spPr>
          <a:xfrm>
            <a:off x="2331720" y="1554480"/>
            <a:ext cx="13716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p>
        </p:txBody>
      </p:sp>
      <p:sp>
        <p:nvSpPr>
          <p:cNvPr id="8" name="Text 5"/>
          <p:cNvSpPr/>
          <p:nvPr/>
        </p:nvSpPr>
        <p:spPr>
          <a:xfrm>
            <a:off x="3749040" y="1554480"/>
            <a:ext cx="13258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p>
        </p:txBody>
      </p:sp>
      <p:sp>
        <p:nvSpPr>
          <p:cNvPr id="9" name="Shape 6"/>
          <p:cNvSpPr/>
          <p:nvPr/>
        </p:nvSpPr>
        <p:spPr>
          <a:xfrm>
            <a:off x="5486400" y="1572768"/>
            <a:ext cx="3108960" cy="658368"/>
          </a:xfrm>
          <a:prstGeom prst="roundRect">
            <a:avLst>
              <a:gd name="adj" fmla="val 9722"/>
            </a:avLst>
          </a:prstGeom>
          <a:solidFill>
            <a:srgbClr val="F6FBF8"/>
          </a:solidFill>
          <a:ln/>
          <a:effectLst>
            <a:outerShdw sx="100000" sy="100000" kx="0" ky="0" algn="bl" rotWithShape="0" blurRad="88900" dist="38100" dir="5400000">
              <a:srgbClr val="000000">
                <a:alpha val="12000"/>
              </a:srgbClr>
            </a:outerShdw>
          </a:effectLst>
        </p:spPr>
      </p:sp>
      <p:sp>
        <p:nvSpPr>
          <p:cNvPr id="10" name="Text 7"/>
          <p:cNvSpPr/>
          <p:nvPr/>
        </p:nvSpPr>
        <p:spPr>
          <a:xfrm>
            <a:off x="5596128" y="1645920"/>
            <a:ext cx="1097280" cy="502920"/>
          </a:xfrm>
          <a:prstGeom prst="rect">
            <a:avLst/>
          </a:prstGeom>
          <a:noFill/>
          <a:ln/>
        </p:spPr>
        <p:txBody>
          <a:bodyPr wrap="square" lIns="0" tIns="0" rIns="0" bIns="0" rtlCol="0" anchor="ctr"/>
          <a:lstStyle/>
          <a:p>
            <a:pPr algn="ctr" indent="0" marL="0">
              <a:buNone/>
            </a:pPr>
            <a:r>
              <a:rPr lang="en-US" sz="2400" b="1" dirty="0">
                <a:solidFill>
                  <a:srgbClr val="14B8A6"/>
                </a:solidFill>
                <a:latin typeface="Cambria" pitchFamily="34" charset="0"/>
                <a:ea typeface="Cambria" pitchFamily="34" charset="-122"/>
                <a:cs typeface="Cambria" pitchFamily="34" charset="-120"/>
              </a:rPr>
              <a:t>730</a:t>
            </a:r>
            <a:endParaRPr lang="en-US" sz="2400" dirty="0"/>
          </a:p>
        </p:txBody>
      </p:sp>
      <p:sp>
        <p:nvSpPr>
          <p:cNvPr id="11" name="Text 8"/>
          <p:cNvSpPr/>
          <p:nvPr/>
        </p:nvSpPr>
        <p:spPr>
          <a:xfrm>
            <a:off x="6675120" y="1645920"/>
            <a:ext cx="1828800" cy="50292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days per product (2 yrs)</a:t>
            </a:r>
            <a:endParaRPr lang="en-US" sz="1150" dirty="0"/>
          </a:p>
        </p:txBody>
      </p:sp>
      <p:sp>
        <p:nvSpPr>
          <p:cNvPr id="12" name="Shape 9"/>
          <p:cNvSpPr/>
          <p:nvPr/>
        </p:nvSpPr>
        <p:spPr>
          <a:xfrm>
            <a:off x="5486400" y="2322576"/>
            <a:ext cx="3108960" cy="658368"/>
          </a:xfrm>
          <a:prstGeom prst="roundRect">
            <a:avLst>
              <a:gd name="adj" fmla="val 9722"/>
            </a:avLst>
          </a:prstGeom>
          <a:solidFill>
            <a:srgbClr val="F6FBF8"/>
          </a:solidFill>
          <a:ln/>
          <a:effectLst>
            <a:outerShdw sx="100000" sy="100000" kx="0" ky="0" algn="bl" rotWithShape="0" blurRad="88900" dist="38100" dir="5400000">
              <a:srgbClr val="000000">
                <a:alpha val="12000"/>
              </a:srgbClr>
            </a:outerShdw>
          </a:effectLst>
        </p:spPr>
      </p:sp>
      <p:sp>
        <p:nvSpPr>
          <p:cNvPr id="13" name="Text 10"/>
          <p:cNvSpPr/>
          <p:nvPr/>
        </p:nvSpPr>
        <p:spPr>
          <a:xfrm>
            <a:off x="5596128" y="2395728"/>
            <a:ext cx="1097280" cy="502920"/>
          </a:xfrm>
          <a:prstGeom prst="rect">
            <a:avLst/>
          </a:prstGeom>
          <a:noFill/>
          <a:ln/>
        </p:spPr>
        <p:txBody>
          <a:bodyPr wrap="square" lIns="0" tIns="0" rIns="0" bIns="0" rtlCol="0" anchor="ctr"/>
          <a:lstStyle/>
          <a:p>
            <a:pPr algn="ctr" indent="0" marL="0">
              <a:buNone/>
            </a:pPr>
            <a:r>
              <a:rPr lang="en-US" sz="2400" b="1" dirty="0">
                <a:solidFill>
                  <a:srgbClr val="14B8A6"/>
                </a:solidFill>
                <a:latin typeface="Cambria" pitchFamily="34" charset="0"/>
                <a:ea typeface="Cambria" pitchFamily="34" charset="-122"/>
                <a:cs typeface="Cambria" pitchFamily="34" charset="-120"/>
              </a:rPr>
              <a:t>20</a:t>
            </a:r>
            <a:endParaRPr lang="en-US" sz="2400" dirty="0"/>
          </a:p>
        </p:txBody>
      </p:sp>
      <p:sp>
        <p:nvSpPr>
          <p:cNvPr id="14" name="Text 11"/>
          <p:cNvSpPr/>
          <p:nvPr/>
        </p:nvSpPr>
        <p:spPr>
          <a:xfrm>
            <a:off x="6675120" y="2395728"/>
            <a:ext cx="1828800" cy="50292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products × 3 stores = 60 series</a:t>
            </a:r>
            <a:endParaRPr lang="en-US" sz="1150" dirty="0"/>
          </a:p>
        </p:txBody>
      </p:sp>
      <p:sp>
        <p:nvSpPr>
          <p:cNvPr id="15" name="Shape 12"/>
          <p:cNvSpPr/>
          <p:nvPr/>
        </p:nvSpPr>
        <p:spPr>
          <a:xfrm>
            <a:off x="5486400" y="3072384"/>
            <a:ext cx="3108960" cy="658368"/>
          </a:xfrm>
          <a:prstGeom prst="roundRect">
            <a:avLst>
              <a:gd name="adj" fmla="val 9722"/>
            </a:avLst>
          </a:prstGeom>
          <a:solidFill>
            <a:srgbClr val="F6FBF8"/>
          </a:solidFill>
          <a:ln/>
          <a:effectLst>
            <a:outerShdw sx="100000" sy="100000" kx="0" ky="0" algn="bl" rotWithShape="0" blurRad="88900" dist="38100" dir="5400000">
              <a:srgbClr val="000000">
                <a:alpha val="12000"/>
              </a:srgbClr>
            </a:outerShdw>
          </a:effectLst>
        </p:spPr>
      </p:sp>
      <p:sp>
        <p:nvSpPr>
          <p:cNvPr id="16" name="Text 13"/>
          <p:cNvSpPr/>
          <p:nvPr/>
        </p:nvSpPr>
        <p:spPr>
          <a:xfrm>
            <a:off x="5596128" y="3145536"/>
            <a:ext cx="1097280" cy="502920"/>
          </a:xfrm>
          <a:prstGeom prst="rect">
            <a:avLst/>
          </a:prstGeom>
          <a:noFill/>
          <a:ln/>
        </p:spPr>
        <p:txBody>
          <a:bodyPr wrap="square" lIns="0" tIns="0" rIns="0" bIns="0" rtlCol="0" anchor="ctr"/>
          <a:lstStyle/>
          <a:p>
            <a:pPr algn="ctr" indent="0" marL="0">
              <a:buNone/>
            </a:pPr>
            <a:r>
              <a:rPr lang="en-US" sz="2400" b="1" dirty="0">
                <a:solidFill>
                  <a:srgbClr val="14B8A6"/>
                </a:solidFill>
                <a:latin typeface="Cambria" pitchFamily="34" charset="0"/>
                <a:ea typeface="Cambria" pitchFamily="34" charset="-122"/>
                <a:cs typeface="Cambria" pitchFamily="34" charset="-120"/>
              </a:rPr>
              <a:t>~44k</a:t>
            </a:r>
            <a:endParaRPr lang="en-US" sz="2400" dirty="0"/>
          </a:p>
        </p:txBody>
      </p:sp>
      <p:sp>
        <p:nvSpPr>
          <p:cNvPr id="17" name="Text 14"/>
          <p:cNvSpPr/>
          <p:nvPr/>
        </p:nvSpPr>
        <p:spPr>
          <a:xfrm>
            <a:off x="6675120" y="3145536"/>
            <a:ext cx="1828800" cy="50292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training rows total</a:t>
            </a:r>
            <a:endParaRPr lang="en-US" sz="1150" dirty="0"/>
          </a:p>
        </p:txBody>
      </p:sp>
      <p:sp>
        <p:nvSpPr>
          <p:cNvPr id="18" name="Shape 15"/>
          <p:cNvSpPr/>
          <p:nvPr/>
        </p:nvSpPr>
        <p:spPr>
          <a:xfrm>
            <a:off x="5486400" y="3822192"/>
            <a:ext cx="3108960" cy="658368"/>
          </a:xfrm>
          <a:prstGeom prst="roundRect">
            <a:avLst>
              <a:gd name="adj" fmla="val 9722"/>
            </a:avLst>
          </a:prstGeom>
          <a:solidFill>
            <a:srgbClr val="F6FBF8"/>
          </a:solidFill>
          <a:ln/>
          <a:effectLst>
            <a:outerShdw sx="100000" sy="100000" kx="0" ky="0" algn="bl" rotWithShape="0" blurRad="88900" dist="38100" dir="5400000">
              <a:srgbClr val="000000">
                <a:alpha val="12000"/>
              </a:srgbClr>
            </a:outerShdw>
          </a:effectLst>
        </p:spPr>
      </p:sp>
      <p:sp>
        <p:nvSpPr>
          <p:cNvPr id="19" name="Text 16"/>
          <p:cNvSpPr/>
          <p:nvPr/>
        </p:nvSpPr>
        <p:spPr>
          <a:xfrm>
            <a:off x="5596128" y="3895344"/>
            <a:ext cx="1097280" cy="502920"/>
          </a:xfrm>
          <a:prstGeom prst="rect">
            <a:avLst/>
          </a:prstGeom>
          <a:noFill/>
          <a:ln/>
        </p:spPr>
        <p:txBody>
          <a:bodyPr wrap="square" lIns="0" tIns="0" rIns="0" bIns="0" rtlCol="0" anchor="ctr"/>
          <a:lstStyle/>
          <a:p>
            <a:pPr algn="ctr" indent="0" marL="0">
              <a:buNone/>
            </a:pPr>
            <a:r>
              <a:rPr lang="en-US" sz="2400" b="1" dirty="0">
                <a:solidFill>
                  <a:srgbClr val="14B8A6"/>
                </a:solidFill>
                <a:latin typeface="Cambria" pitchFamily="34" charset="0"/>
                <a:ea typeface="Cambria" pitchFamily="34" charset="-122"/>
                <a:cs typeface="Cambria" pitchFamily="34" charset="-120"/>
              </a:rPr>
              <a:t>80 / 20</a:t>
            </a:r>
            <a:endParaRPr lang="en-US" sz="2400" dirty="0"/>
          </a:p>
        </p:txBody>
      </p:sp>
      <p:sp>
        <p:nvSpPr>
          <p:cNvPr id="20" name="Text 17"/>
          <p:cNvSpPr/>
          <p:nvPr/>
        </p:nvSpPr>
        <p:spPr>
          <a:xfrm>
            <a:off x="6675120" y="3895344"/>
            <a:ext cx="1828800" cy="50292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train / test split (time-based)</a:t>
            </a:r>
            <a:endParaRPr lang="en-US" sz="1150" dirty="0"/>
          </a:p>
        </p:txBody>
      </p:sp>
      <p:sp>
        <p:nvSpPr>
          <p:cNvPr id="21" name="Text 18"/>
          <p:cNvSpPr/>
          <p:nvPr/>
        </p:nvSpPr>
        <p:spPr>
          <a:xfrm>
            <a:off x="548640" y="4370832"/>
            <a:ext cx="8229600" cy="320040"/>
          </a:xfrm>
          <a:prstGeom prst="rect">
            <a:avLst/>
          </a:prstGeom>
          <a:noFill/>
          <a:ln/>
        </p:spPr>
        <p:txBody>
          <a:bodyPr wrap="square" lIns="0" tIns="0" rIns="0" bIns="0" rtlCol="0" anchor="ctr"/>
          <a:lstStyle/>
          <a:p>
            <a:pPr indent="0" marL="0">
              <a:buNone/>
            </a:pPr>
            <a:r>
              <a:rPr lang="en-US" sz="1150" i="1" dirty="0">
                <a:solidFill>
                  <a:srgbClr val="157347"/>
                </a:solidFill>
                <a:latin typeface="Calibri" pitchFamily="34" charset="0"/>
                <a:ea typeface="Calibri" pitchFamily="34" charset="-122"/>
                <a:cs typeface="Calibri" pitchFamily="34" charset="-120"/>
              </a:rPr>
              <a:t>Generated with NumPy: base demand + weekly &amp; yearly seasonality + event spikes + noise.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lIns="0" tIns="0" rIns="0" bIns="0" rtlCol="0" anchor="ctr"/>
          <a:lstStyle/>
          <a:p>
            <a:pPr indent="0" marL="0">
              <a:buNone/>
            </a:pPr>
            <a:r>
              <a:rPr lang="en-US" sz="3000" b="1" dirty="0">
                <a:solidFill>
                  <a:srgbClr val="0F5132"/>
                </a:solidFill>
                <a:latin typeface="Cambria" pitchFamily="34" charset="0"/>
                <a:ea typeface="Cambria" pitchFamily="34" charset="-122"/>
                <a:cs typeface="Cambria" pitchFamily="34" charset="-120"/>
              </a:rPr>
              <a:t>Data Insights — What Drives Demand</a:t>
            </a:r>
            <a:endParaRPr lang="en-US" sz="3000" dirty="0"/>
          </a:p>
        </p:txBody>
      </p:sp>
      <p:sp>
        <p:nvSpPr>
          <p:cNvPr id="3" name="Text 1"/>
          <p:cNvSpPr/>
          <p:nvPr/>
        </p:nvSpPr>
        <p:spPr>
          <a:xfrm>
            <a:off x="548640" y="1024128"/>
            <a:ext cx="82296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EDA confirms strong, repeating signals — the exact patterns an LSTM can learn (a flat average can't).</a:t>
            </a:r>
            <a:endParaRPr lang="en-US" sz="1300" dirty="0"/>
          </a:p>
        </p:txBody>
      </p:sp>
      <p:graphicFrame>
        <p:nvGraphicFramePr>
          <p:cNvPr id="4" name="Chart 0" descr=""/>
          <p:cNvGraphicFramePr/>
          <p:nvPr/>
        </p:nvGraphicFramePr>
        <p:xfrm>
          <a:off x="502920" y="1554480"/>
          <a:ext cx="5029200" cy="29260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02920" y="4498848"/>
            <a:ext cx="502920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Average uplift vs a normal day (real, from our dataset)</a:t>
            </a:r>
            <a:endParaRPr lang="en-US" sz="1000" dirty="0"/>
          </a:p>
        </p:txBody>
      </p:sp>
      <p:sp>
        <p:nvSpPr>
          <p:cNvPr id="6" name="Shape 3"/>
          <p:cNvSpPr/>
          <p:nvPr/>
        </p:nvSpPr>
        <p:spPr>
          <a:xfrm>
            <a:off x="5715000" y="1572768"/>
            <a:ext cx="2880360" cy="914400"/>
          </a:xfrm>
          <a:prstGeom prst="roundRect">
            <a:avLst>
              <a:gd name="adj" fmla="val 8000"/>
            </a:avLst>
          </a:prstGeom>
          <a:solidFill>
            <a:srgbClr val="F6FBF8"/>
          </a:solidFill>
          <a:ln/>
          <a:effectLst>
            <a:outerShdw sx="100000" sy="100000" kx="0" ky="0" algn="bl" rotWithShape="0" blurRad="88900" dist="38100" dir="5400000">
              <a:srgbClr val="000000">
                <a:alpha val="12000"/>
              </a:srgbClr>
            </a:outerShdw>
          </a:effectLst>
        </p:spPr>
      </p:sp>
      <p:sp>
        <p:nvSpPr>
          <p:cNvPr id="7" name="Shape 4"/>
          <p:cNvSpPr/>
          <p:nvPr/>
        </p:nvSpPr>
        <p:spPr>
          <a:xfrm>
            <a:off x="5870448" y="1773936"/>
            <a:ext cx="512064" cy="512064"/>
          </a:xfrm>
          <a:prstGeom prst="ellipse">
            <a:avLst/>
          </a:prstGeom>
          <a:solidFill>
            <a:srgbClr val="0F5132"/>
          </a:solidFill>
          <a:ln/>
          <a:effectLst>
            <a:outerShdw sx="100000" sy="100000" kx="0" ky="0" algn="bl" rotWithShape="0" blurRad="88900" dist="38100" dir="5400000">
              <a:srgbClr val="000000">
                <a:alpha val="12000"/>
              </a:srgbClr>
            </a:outerShdw>
          </a:effectLst>
        </p:spPr>
      </p:sp>
      <p:pic>
        <p:nvPicPr>
          <p:cNvPr id="8" name="Image 0" descr="preencoded.png">    </p:cNvPr>
          <p:cNvPicPr>
            <a:picLocks noChangeAspect="1"/>
          </p:cNvPicPr>
          <p:nvPr/>
        </p:nvPicPr>
        <p:blipFill>
          <a:blip r:embed="rId2"/>
          <a:stretch>
            <a:fillRect/>
          </a:stretch>
        </p:blipFill>
        <p:spPr>
          <a:xfrm>
            <a:off x="6003585" y="1907073"/>
            <a:ext cx="245791" cy="245791"/>
          </a:xfrm>
          <a:prstGeom prst="rect">
            <a:avLst/>
          </a:prstGeom>
        </p:spPr>
      </p:pic>
      <p:sp>
        <p:nvSpPr>
          <p:cNvPr id="9" name="Text 5"/>
          <p:cNvSpPr/>
          <p:nvPr/>
        </p:nvSpPr>
        <p:spPr>
          <a:xfrm>
            <a:off x="6510528" y="1691640"/>
            <a:ext cx="2011680" cy="292608"/>
          </a:xfrm>
          <a:prstGeom prst="rect">
            <a:avLst/>
          </a:prstGeom>
          <a:noFill/>
          <a:ln/>
        </p:spPr>
        <p:txBody>
          <a:bodyPr wrap="square" lIns="0" tIns="0" rIns="0" bIns="0" rtlCol="0" anchor="ctr"/>
          <a:lstStyle/>
          <a:p>
            <a:pPr indent="0" marL="0">
              <a:buNone/>
            </a:pPr>
            <a:r>
              <a:rPr lang="en-US" sz="1350" b="1" dirty="0">
                <a:solidFill>
                  <a:srgbClr val="0F5132"/>
                </a:solidFill>
                <a:latin typeface="Calibri" pitchFamily="34" charset="0"/>
                <a:ea typeface="Calibri" pitchFamily="34" charset="-122"/>
                <a:cs typeface="Calibri" pitchFamily="34" charset="-120"/>
              </a:rPr>
              <a:t>Events stack up</a:t>
            </a:r>
            <a:endParaRPr lang="en-US" sz="1350" dirty="0"/>
          </a:p>
        </p:txBody>
      </p:sp>
      <p:sp>
        <p:nvSpPr>
          <p:cNvPr id="10" name="Text 6"/>
          <p:cNvSpPr/>
          <p:nvPr/>
        </p:nvSpPr>
        <p:spPr>
          <a:xfrm>
            <a:off x="6510528" y="1984248"/>
            <a:ext cx="2011680" cy="4572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An Eid weekend with a promo can nearly double a normal day's demand.</a:t>
            </a:r>
            <a:endParaRPr lang="en-US" sz="1000" dirty="0"/>
          </a:p>
        </p:txBody>
      </p:sp>
      <p:sp>
        <p:nvSpPr>
          <p:cNvPr id="11" name="Shape 7"/>
          <p:cNvSpPr/>
          <p:nvPr/>
        </p:nvSpPr>
        <p:spPr>
          <a:xfrm>
            <a:off x="5715000" y="2578608"/>
            <a:ext cx="2880360" cy="914400"/>
          </a:xfrm>
          <a:prstGeom prst="roundRect">
            <a:avLst>
              <a:gd name="adj" fmla="val 8000"/>
            </a:avLst>
          </a:prstGeom>
          <a:solidFill>
            <a:srgbClr val="F6FBF8"/>
          </a:solidFill>
          <a:ln/>
          <a:effectLst>
            <a:outerShdw sx="100000" sy="100000" kx="0" ky="0" algn="bl" rotWithShape="0" blurRad="88900" dist="38100" dir="5400000">
              <a:srgbClr val="000000">
                <a:alpha val="12000"/>
              </a:srgbClr>
            </a:outerShdw>
          </a:effectLst>
        </p:spPr>
      </p:sp>
      <p:sp>
        <p:nvSpPr>
          <p:cNvPr id="12" name="Shape 8"/>
          <p:cNvSpPr/>
          <p:nvPr/>
        </p:nvSpPr>
        <p:spPr>
          <a:xfrm>
            <a:off x="5870448" y="2779776"/>
            <a:ext cx="512064" cy="512064"/>
          </a:xfrm>
          <a:prstGeom prst="ellipse">
            <a:avLst/>
          </a:prstGeom>
          <a:solidFill>
            <a:srgbClr val="0F5132"/>
          </a:solidFill>
          <a:ln/>
          <a:effectLst>
            <a:outerShdw sx="100000" sy="100000" kx="0" ky="0" algn="bl" rotWithShape="0" blurRad="88900" dist="38100" dir="5400000">
              <a:srgbClr val="000000">
                <a:alpha val="12000"/>
              </a:srgbClr>
            </a:outerShdw>
          </a:effectLst>
        </p:spPr>
      </p:sp>
      <p:pic>
        <p:nvPicPr>
          <p:cNvPr id="13" name="Image 1" descr="preencoded.png">    </p:cNvPr>
          <p:cNvPicPr>
            <a:picLocks noChangeAspect="1"/>
          </p:cNvPicPr>
          <p:nvPr/>
        </p:nvPicPr>
        <p:blipFill>
          <a:blip r:embed="rId3"/>
          <a:stretch>
            <a:fillRect/>
          </a:stretch>
        </p:blipFill>
        <p:spPr>
          <a:xfrm>
            <a:off x="6003585" y="2912913"/>
            <a:ext cx="245791" cy="245791"/>
          </a:xfrm>
          <a:prstGeom prst="rect">
            <a:avLst/>
          </a:prstGeom>
        </p:spPr>
      </p:pic>
      <p:sp>
        <p:nvSpPr>
          <p:cNvPr id="14" name="Text 9"/>
          <p:cNvSpPr/>
          <p:nvPr/>
        </p:nvSpPr>
        <p:spPr>
          <a:xfrm>
            <a:off x="6510528" y="2697480"/>
            <a:ext cx="2011680" cy="292608"/>
          </a:xfrm>
          <a:prstGeom prst="rect">
            <a:avLst/>
          </a:prstGeom>
          <a:noFill/>
          <a:ln/>
        </p:spPr>
        <p:txBody>
          <a:bodyPr wrap="square" lIns="0" tIns="0" rIns="0" bIns="0" rtlCol="0" anchor="ctr"/>
          <a:lstStyle/>
          <a:p>
            <a:pPr indent="0" marL="0">
              <a:buNone/>
            </a:pPr>
            <a:r>
              <a:rPr lang="en-US" sz="1350" b="1" dirty="0">
                <a:solidFill>
                  <a:srgbClr val="0F5132"/>
                </a:solidFill>
                <a:latin typeface="Calibri" pitchFamily="34" charset="0"/>
                <a:ea typeface="Calibri" pitchFamily="34" charset="-122"/>
                <a:cs typeface="Calibri" pitchFamily="34" charset="-120"/>
              </a:rPr>
              <a:t>Clear seasonality</a:t>
            </a:r>
            <a:endParaRPr lang="en-US" sz="1350" dirty="0"/>
          </a:p>
        </p:txBody>
      </p:sp>
      <p:sp>
        <p:nvSpPr>
          <p:cNvPr id="15" name="Text 10"/>
          <p:cNvSpPr/>
          <p:nvPr/>
        </p:nvSpPr>
        <p:spPr>
          <a:xfrm>
            <a:off x="6510528" y="2990088"/>
            <a:ext cx="2011680" cy="4572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Weekends lift ~20%; yearly weather cycle moves slow-season demand.</a:t>
            </a:r>
            <a:endParaRPr lang="en-US" sz="1000" dirty="0"/>
          </a:p>
        </p:txBody>
      </p:sp>
      <p:sp>
        <p:nvSpPr>
          <p:cNvPr id="16" name="Shape 11"/>
          <p:cNvSpPr/>
          <p:nvPr/>
        </p:nvSpPr>
        <p:spPr>
          <a:xfrm>
            <a:off x="5715000" y="3584448"/>
            <a:ext cx="2880360" cy="914400"/>
          </a:xfrm>
          <a:prstGeom prst="roundRect">
            <a:avLst>
              <a:gd name="adj" fmla="val 8000"/>
            </a:avLst>
          </a:prstGeom>
          <a:solidFill>
            <a:srgbClr val="F6FBF8"/>
          </a:solidFill>
          <a:ln/>
          <a:effectLst>
            <a:outerShdw sx="100000" sy="100000" kx="0" ky="0" algn="bl" rotWithShape="0" blurRad="88900" dist="38100" dir="5400000">
              <a:srgbClr val="000000">
                <a:alpha val="12000"/>
              </a:srgbClr>
            </a:outerShdw>
          </a:effectLst>
        </p:spPr>
      </p:sp>
      <p:sp>
        <p:nvSpPr>
          <p:cNvPr id="17" name="Shape 12"/>
          <p:cNvSpPr/>
          <p:nvPr/>
        </p:nvSpPr>
        <p:spPr>
          <a:xfrm>
            <a:off x="5870448" y="3785616"/>
            <a:ext cx="512064" cy="512064"/>
          </a:xfrm>
          <a:prstGeom prst="ellipse">
            <a:avLst/>
          </a:prstGeom>
          <a:solidFill>
            <a:srgbClr val="0F5132"/>
          </a:solidFill>
          <a:ln/>
          <a:effectLst>
            <a:outerShdw sx="100000" sy="100000" kx="0" ky="0" algn="bl" rotWithShape="0" blurRad="88900" dist="38100" dir="5400000">
              <a:srgbClr val="000000">
                <a:alpha val="12000"/>
              </a:srgbClr>
            </a:outerShdw>
          </a:effectLst>
        </p:spPr>
      </p:sp>
      <p:pic>
        <p:nvPicPr>
          <p:cNvPr id="18" name="Image 2" descr="preencoded.png">    </p:cNvPr>
          <p:cNvPicPr>
            <a:picLocks noChangeAspect="1"/>
          </p:cNvPicPr>
          <p:nvPr/>
        </p:nvPicPr>
        <p:blipFill>
          <a:blip r:embed="rId4"/>
          <a:stretch>
            <a:fillRect/>
          </a:stretch>
        </p:blipFill>
        <p:spPr>
          <a:xfrm>
            <a:off x="6003585" y="3918753"/>
            <a:ext cx="245791" cy="245791"/>
          </a:xfrm>
          <a:prstGeom prst="rect">
            <a:avLst/>
          </a:prstGeom>
        </p:spPr>
      </p:pic>
      <p:sp>
        <p:nvSpPr>
          <p:cNvPr id="19" name="Text 13"/>
          <p:cNvSpPr/>
          <p:nvPr/>
        </p:nvSpPr>
        <p:spPr>
          <a:xfrm>
            <a:off x="6510528" y="3703320"/>
            <a:ext cx="2011680" cy="292608"/>
          </a:xfrm>
          <a:prstGeom prst="rect">
            <a:avLst/>
          </a:prstGeom>
          <a:noFill/>
          <a:ln/>
        </p:spPr>
        <p:txBody>
          <a:bodyPr wrap="square" lIns="0" tIns="0" rIns="0" bIns="0" rtlCol="0" anchor="ctr"/>
          <a:lstStyle/>
          <a:p>
            <a:pPr indent="0" marL="0">
              <a:buNone/>
            </a:pPr>
            <a:r>
              <a:rPr lang="en-US" sz="1350" b="1" dirty="0">
                <a:solidFill>
                  <a:srgbClr val="0F5132"/>
                </a:solidFill>
                <a:latin typeface="Calibri" pitchFamily="34" charset="0"/>
                <a:ea typeface="Calibri" pitchFamily="34" charset="-122"/>
                <a:cs typeface="Calibri" pitchFamily="34" charset="-120"/>
              </a:rPr>
              <a:t>Why averages fail</a:t>
            </a:r>
            <a:endParaRPr lang="en-US" sz="1350" dirty="0"/>
          </a:p>
        </p:txBody>
      </p:sp>
      <p:sp>
        <p:nvSpPr>
          <p:cNvPr id="20" name="Text 14"/>
          <p:cNvSpPr/>
          <p:nvPr/>
        </p:nvSpPr>
        <p:spPr>
          <a:xfrm>
            <a:off x="6510528" y="3995928"/>
            <a:ext cx="2011680" cy="4572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 single mean ignores all of this — over-orders on quiet days, under-orders on spikes.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DF9"/>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lIns="0" tIns="0" rIns="0" bIns="0" rtlCol="0" anchor="ctr"/>
          <a:lstStyle/>
          <a:p>
            <a:pPr indent="0" marL="0">
              <a:buNone/>
            </a:pPr>
            <a:r>
              <a:rPr lang="en-US" sz="3400" b="1" dirty="0">
                <a:solidFill>
                  <a:srgbClr val="0F5132"/>
                </a:solidFill>
                <a:latin typeface="Cambria" pitchFamily="34" charset="0"/>
                <a:ea typeface="Cambria" pitchFamily="34" charset="-122"/>
                <a:cs typeface="Cambria" pitchFamily="34" charset="-120"/>
              </a:rPr>
              <a:t>LSTM Model Architecture</a:t>
            </a:r>
            <a:endParaRPr lang="en-US" sz="3400" dirty="0"/>
          </a:p>
        </p:txBody>
      </p:sp>
      <p:sp>
        <p:nvSpPr>
          <p:cNvPr id="3" name="Text 1"/>
          <p:cNvSpPr/>
          <p:nvPr/>
        </p:nvSpPr>
        <p:spPr>
          <a:xfrm>
            <a:off x="548640" y="1024128"/>
            <a:ext cx="8229600" cy="36576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A 30-day window of features goes in; the predicted units for the next day comes out.</a:t>
            </a:r>
            <a:endParaRPr lang="en-US" sz="1350" dirty="0"/>
          </a:p>
        </p:txBody>
      </p:sp>
      <p:sp>
        <p:nvSpPr>
          <p:cNvPr id="4" name="Shape 2"/>
          <p:cNvSpPr/>
          <p:nvPr/>
        </p:nvSpPr>
        <p:spPr>
          <a:xfrm>
            <a:off x="640080" y="1554480"/>
            <a:ext cx="4206240" cy="512064"/>
          </a:xfrm>
          <a:prstGeom prst="roundRect">
            <a:avLst>
              <a:gd name="adj" fmla="val 10714"/>
            </a:avLst>
          </a:prstGeom>
          <a:solidFill>
            <a:srgbClr val="F6FBF8"/>
          </a:solidFill>
          <a:ln/>
          <a:effectLst>
            <a:outerShdw sx="100000" sy="100000" kx="0" ky="0" algn="bl" rotWithShape="0" blurRad="88900" dist="38100" dir="5400000">
              <a:srgbClr val="000000">
                <a:alpha val="12000"/>
              </a:srgbClr>
            </a:outerShdw>
          </a:effectLst>
        </p:spPr>
      </p:sp>
      <p:sp>
        <p:nvSpPr>
          <p:cNvPr id="5" name="Text 3"/>
          <p:cNvSpPr/>
          <p:nvPr/>
        </p:nvSpPr>
        <p:spPr>
          <a:xfrm>
            <a:off x="822960" y="1609344"/>
            <a:ext cx="2468880" cy="40233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Input</a:t>
            </a:r>
            <a:endParaRPr lang="en-US" sz="1300" dirty="0"/>
          </a:p>
        </p:txBody>
      </p:sp>
      <p:sp>
        <p:nvSpPr>
          <p:cNvPr id="6" name="Text 4"/>
          <p:cNvSpPr/>
          <p:nvPr/>
        </p:nvSpPr>
        <p:spPr>
          <a:xfrm>
            <a:off x="3200400" y="1609344"/>
            <a:ext cx="1600200" cy="402336"/>
          </a:xfrm>
          <a:prstGeom prst="rect">
            <a:avLst/>
          </a:prstGeom>
          <a:noFill/>
          <a:ln/>
        </p:spPr>
        <p:txBody>
          <a:bodyPr wrap="square" lIns="0" tIns="0" rIns="0" bIns="0" rtlCol="0" anchor="ctr"/>
          <a:lstStyle/>
          <a:p>
            <a:pPr algn="r" indent="0" marL="0">
              <a:buNone/>
            </a:pPr>
            <a:r>
              <a:rPr lang="en-US" sz="980" dirty="0">
                <a:solidFill>
                  <a:srgbClr val="64748B"/>
                </a:solidFill>
                <a:latin typeface="Calibri" pitchFamily="34" charset="0"/>
                <a:ea typeface="Calibri" pitchFamily="34" charset="-122"/>
                <a:cs typeface="Calibri" pitchFamily="34" charset="-120"/>
              </a:rPr>
              <a:t>30 days × 8 features</a:t>
            </a:r>
            <a:endParaRPr lang="en-US" sz="980" dirty="0"/>
          </a:p>
        </p:txBody>
      </p:sp>
      <p:sp>
        <p:nvSpPr>
          <p:cNvPr id="7" name="Shape 5"/>
          <p:cNvSpPr/>
          <p:nvPr/>
        </p:nvSpPr>
        <p:spPr>
          <a:xfrm>
            <a:off x="2606040" y="2075688"/>
            <a:ext cx="164592" cy="109728"/>
          </a:xfrm>
          <a:prstGeom prst="downArrow">
            <a:avLst/>
          </a:prstGeom>
          <a:solidFill>
            <a:srgbClr val="157347"/>
          </a:solidFill>
          <a:ln/>
        </p:spPr>
      </p:sp>
      <p:sp>
        <p:nvSpPr>
          <p:cNvPr id="8" name="Shape 6"/>
          <p:cNvSpPr/>
          <p:nvPr/>
        </p:nvSpPr>
        <p:spPr>
          <a:xfrm>
            <a:off x="640080" y="2203704"/>
            <a:ext cx="4206240" cy="512064"/>
          </a:xfrm>
          <a:prstGeom prst="roundRect">
            <a:avLst>
              <a:gd name="adj" fmla="val 10714"/>
            </a:avLst>
          </a:prstGeom>
          <a:solidFill>
            <a:srgbClr val="0F5132"/>
          </a:solidFill>
          <a:ln/>
          <a:effectLst>
            <a:outerShdw sx="100000" sy="100000" kx="0" ky="0" algn="bl" rotWithShape="0" blurRad="88900" dist="38100" dir="5400000">
              <a:srgbClr val="000000">
                <a:alpha val="12000"/>
              </a:srgbClr>
            </a:outerShdw>
          </a:effectLst>
        </p:spPr>
      </p:sp>
      <p:sp>
        <p:nvSpPr>
          <p:cNvPr id="9" name="Text 7"/>
          <p:cNvSpPr/>
          <p:nvPr/>
        </p:nvSpPr>
        <p:spPr>
          <a:xfrm>
            <a:off x="822960" y="2258568"/>
            <a:ext cx="2468880" cy="40233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LSTM (64) + Dropout 0.2</a:t>
            </a:r>
            <a:endParaRPr lang="en-US" sz="1300" dirty="0"/>
          </a:p>
        </p:txBody>
      </p:sp>
      <p:sp>
        <p:nvSpPr>
          <p:cNvPr id="10" name="Text 8"/>
          <p:cNvSpPr/>
          <p:nvPr/>
        </p:nvSpPr>
        <p:spPr>
          <a:xfrm>
            <a:off x="3200400" y="2258568"/>
            <a:ext cx="1600200" cy="402336"/>
          </a:xfrm>
          <a:prstGeom prst="rect">
            <a:avLst/>
          </a:prstGeom>
          <a:noFill/>
          <a:ln/>
        </p:spPr>
        <p:txBody>
          <a:bodyPr wrap="square" lIns="0" tIns="0" rIns="0" bIns="0" rtlCol="0" anchor="ctr"/>
          <a:lstStyle/>
          <a:p>
            <a:pPr algn="r" indent="0" marL="0">
              <a:buNone/>
            </a:pPr>
            <a:r>
              <a:rPr lang="en-US" sz="980" dirty="0">
                <a:solidFill>
                  <a:srgbClr val="D1FAE5"/>
                </a:solidFill>
                <a:latin typeface="Calibri" pitchFamily="34" charset="0"/>
                <a:ea typeface="Calibri" pitchFamily="34" charset="-122"/>
                <a:cs typeface="Calibri" pitchFamily="34" charset="-120"/>
              </a:rPr>
              <a:t>learns sequential memory</a:t>
            </a:r>
            <a:endParaRPr lang="en-US" sz="980" dirty="0"/>
          </a:p>
        </p:txBody>
      </p:sp>
      <p:sp>
        <p:nvSpPr>
          <p:cNvPr id="11" name="Shape 9"/>
          <p:cNvSpPr/>
          <p:nvPr/>
        </p:nvSpPr>
        <p:spPr>
          <a:xfrm>
            <a:off x="2606040" y="2724912"/>
            <a:ext cx="164592" cy="109728"/>
          </a:xfrm>
          <a:prstGeom prst="downArrow">
            <a:avLst/>
          </a:prstGeom>
          <a:solidFill>
            <a:srgbClr val="157347"/>
          </a:solidFill>
          <a:ln/>
        </p:spPr>
      </p:sp>
      <p:sp>
        <p:nvSpPr>
          <p:cNvPr id="12" name="Shape 10"/>
          <p:cNvSpPr/>
          <p:nvPr/>
        </p:nvSpPr>
        <p:spPr>
          <a:xfrm>
            <a:off x="640080" y="2852928"/>
            <a:ext cx="4206240" cy="512064"/>
          </a:xfrm>
          <a:prstGeom prst="roundRect">
            <a:avLst>
              <a:gd name="adj" fmla="val 10714"/>
            </a:avLst>
          </a:prstGeom>
          <a:solidFill>
            <a:srgbClr val="0F5132"/>
          </a:solidFill>
          <a:ln/>
          <a:effectLst>
            <a:outerShdw sx="100000" sy="100000" kx="0" ky="0" algn="bl" rotWithShape="0" blurRad="88900" dist="38100" dir="5400000">
              <a:srgbClr val="000000">
                <a:alpha val="12000"/>
              </a:srgbClr>
            </a:outerShdw>
          </a:effectLst>
        </p:spPr>
      </p:sp>
      <p:sp>
        <p:nvSpPr>
          <p:cNvPr id="13" name="Text 11"/>
          <p:cNvSpPr/>
          <p:nvPr/>
        </p:nvSpPr>
        <p:spPr>
          <a:xfrm>
            <a:off x="822960" y="2907792"/>
            <a:ext cx="2468880" cy="40233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LSTM (32) + Dropout 0.2</a:t>
            </a:r>
            <a:endParaRPr lang="en-US" sz="1300" dirty="0"/>
          </a:p>
        </p:txBody>
      </p:sp>
      <p:sp>
        <p:nvSpPr>
          <p:cNvPr id="14" name="Text 12"/>
          <p:cNvSpPr/>
          <p:nvPr/>
        </p:nvSpPr>
        <p:spPr>
          <a:xfrm>
            <a:off x="3200400" y="2907792"/>
            <a:ext cx="1600200" cy="402336"/>
          </a:xfrm>
          <a:prstGeom prst="rect">
            <a:avLst/>
          </a:prstGeom>
          <a:noFill/>
          <a:ln/>
        </p:spPr>
        <p:txBody>
          <a:bodyPr wrap="square" lIns="0" tIns="0" rIns="0" bIns="0" rtlCol="0" anchor="ctr"/>
          <a:lstStyle/>
          <a:p>
            <a:pPr algn="r" indent="0" marL="0">
              <a:buNone/>
            </a:pPr>
            <a:r>
              <a:rPr lang="en-US" sz="980" dirty="0">
                <a:solidFill>
                  <a:srgbClr val="D1FAE5"/>
                </a:solidFill>
                <a:latin typeface="Calibri" pitchFamily="34" charset="0"/>
                <a:ea typeface="Calibri" pitchFamily="34" charset="-122"/>
                <a:cs typeface="Calibri" pitchFamily="34" charset="-120"/>
              </a:rPr>
              <a:t>compresses the pattern</a:t>
            </a:r>
            <a:endParaRPr lang="en-US" sz="980" dirty="0"/>
          </a:p>
        </p:txBody>
      </p:sp>
      <p:sp>
        <p:nvSpPr>
          <p:cNvPr id="15" name="Shape 13"/>
          <p:cNvSpPr/>
          <p:nvPr/>
        </p:nvSpPr>
        <p:spPr>
          <a:xfrm>
            <a:off x="2606040" y="3374136"/>
            <a:ext cx="164592" cy="109728"/>
          </a:xfrm>
          <a:prstGeom prst="downArrow">
            <a:avLst/>
          </a:prstGeom>
          <a:solidFill>
            <a:srgbClr val="157347"/>
          </a:solidFill>
          <a:ln/>
        </p:spPr>
      </p:sp>
      <p:sp>
        <p:nvSpPr>
          <p:cNvPr id="16" name="Shape 14"/>
          <p:cNvSpPr/>
          <p:nvPr/>
        </p:nvSpPr>
        <p:spPr>
          <a:xfrm>
            <a:off x="640080" y="3502152"/>
            <a:ext cx="4206240" cy="512064"/>
          </a:xfrm>
          <a:prstGeom prst="roundRect">
            <a:avLst>
              <a:gd name="adj" fmla="val 10714"/>
            </a:avLst>
          </a:prstGeom>
          <a:solidFill>
            <a:srgbClr val="F6FBF8"/>
          </a:solidFill>
          <a:ln/>
          <a:effectLst>
            <a:outerShdw sx="100000" sy="100000" kx="0" ky="0" algn="bl" rotWithShape="0" blurRad="88900" dist="38100" dir="5400000">
              <a:srgbClr val="000000">
                <a:alpha val="12000"/>
              </a:srgbClr>
            </a:outerShdw>
          </a:effectLst>
        </p:spPr>
      </p:sp>
      <p:sp>
        <p:nvSpPr>
          <p:cNvPr id="17" name="Text 15"/>
          <p:cNvSpPr/>
          <p:nvPr/>
        </p:nvSpPr>
        <p:spPr>
          <a:xfrm>
            <a:off x="822960" y="3557016"/>
            <a:ext cx="2468880" cy="40233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Dense (16, ReLU)</a:t>
            </a:r>
            <a:endParaRPr lang="en-US" sz="1300" dirty="0"/>
          </a:p>
        </p:txBody>
      </p:sp>
      <p:sp>
        <p:nvSpPr>
          <p:cNvPr id="18" name="Text 16"/>
          <p:cNvSpPr/>
          <p:nvPr/>
        </p:nvSpPr>
        <p:spPr>
          <a:xfrm>
            <a:off x="3200400" y="3557016"/>
            <a:ext cx="1600200" cy="402336"/>
          </a:xfrm>
          <a:prstGeom prst="rect">
            <a:avLst/>
          </a:prstGeom>
          <a:noFill/>
          <a:ln/>
        </p:spPr>
        <p:txBody>
          <a:bodyPr wrap="square" lIns="0" tIns="0" rIns="0" bIns="0" rtlCol="0" anchor="ctr"/>
          <a:lstStyle/>
          <a:p>
            <a:pPr algn="r" indent="0" marL="0">
              <a:buNone/>
            </a:pPr>
            <a:r>
              <a:rPr lang="en-US" sz="980" dirty="0">
                <a:solidFill>
                  <a:srgbClr val="64748B"/>
                </a:solidFill>
                <a:latin typeface="Calibri" pitchFamily="34" charset="0"/>
                <a:ea typeface="Calibri" pitchFamily="34" charset="-122"/>
                <a:cs typeface="Calibri" pitchFamily="34" charset="-120"/>
              </a:rPr>
              <a:t>non-linear combination</a:t>
            </a:r>
            <a:endParaRPr lang="en-US" sz="980" dirty="0"/>
          </a:p>
        </p:txBody>
      </p:sp>
      <p:sp>
        <p:nvSpPr>
          <p:cNvPr id="19" name="Shape 17"/>
          <p:cNvSpPr/>
          <p:nvPr/>
        </p:nvSpPr>
        <p:spPr>
          <a:xfrm>
            <a:off x="2606040" y="4023360"/>
            <a:ext cx="164592" cy="109728"/>
          </a:xfrm>
          <a:prstGeom prst="downArrow">
            <a:avLst/>
          </a:prstGeom>
          <a:solidFill>
            <a:srgbClr val="157347"/>
          </a:solidFill>
          <a:ln/>
        </p:spPr>
      </p:sp>
      <p:sp>
        <p:nvSpPr>
          <p:cNvPr id="20" name="Shape 18"/>
          <p:cNvSpPr/>
          <p:nvPr/>
        </p:nvSpPr>
        <p:spPr>
          <a:xfrm>
            <a:off x="640080" y="4151376"/>
            <a:ext cx="4206240" cy="512064"/>
          </a:xfrm>
          <a:prstGeom prst="roundRect">
            <a:avLst>
              <a:gd name="adj" fmla="val 10714"/>
            </a:avLst>
          </a:prstGeom>
          <a:solidFill>
            <a:srgbClr val="F59E0B"/>
          </a:solidFill>
          <a:ln/>
          <a:effectLst>
            <a:outerShdw sx="100000" sy="100000" kx="0" ky="0" algn="bl" rotWithShape="0" blurRad="88900" dist="38100" dir="5400000">
              <a:srgbClr val="000000">
                <a:alpha val="12000"/>
              </a:srgbClr>
            </a:outerShdw>
          </a:effectLst>
        </p:spPr>
      </p:sp>
      <p:sp>
        <p:nvSpPr>
          <p:cNvPr id="21" name="Text 19"/>
          <p:cNvSpPr/>
          <p:nvPr/>
        </p:nvSpPr>
        <p:spPr>
          <a:xfrm>
            <a:off x="822960" y="4206240"/>
            <a:ext cx="2468880" cy="40233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Dense (1)</a:t>
            </a:r>
            <a:endParaRPr lang="en-US" sz="1300" dirty="0"/>
          </a:p>
        </p:txBody>
      </p:sp>
      <p:sp>
        <p:nvSpPr>
          <p:cNvPr id="22" name="Text 20"/>
          <p:cNvSpPr/>
          <p:nvPr/>
        </p:nvSpPr>
        <p:spPr>
          <a:xfrm>
            <a:off x="3200400" y="4206240"/>
            <a:ext cx="1600200" cy="402336"/>
          </a:xfrm>
          <a:prstGeom prst="rect">
            <a:avLst/>
          </a:prstGeom>
          <a:noFill/>
          <a:ln/>
        </p:spPr>
        <p:txBody>
          <a:bodyPr wrap="square" lIns="0" tIns="0" rIns="0" bIns="0" rtlCol="0" anchor="ctr"/>
          <a:lstStyle/>
          <a:p>
            <a:pPr algn="r" indent="0" marL="0">
              <a:buNone/>
            </a:pPr>
            <a:r>
              <a:rPr lang="en-US" sz="980" dirty="0">
                <a:solidFill>
                  <a:srgbClr val="FFFFFF"/>
                </a:solidFill>
                <a:latin typeface="Calibri" pitchFamily="34" charset="0"/>
                <a:ea typeface="Calibri" pitchFamily="34" charset="-122"/>
                <a:cs typeface="Calibri" pitchFamily="34" charset="-120"/>
              </a:rPr>
              <a:t>predicted units sold</a:t>
            </a:r>
            <a:endParaRPr lang="en-US" sz="980" dirty="0"/>
          </a:p>
        </p:txBody>
      </p:sp>
      <p:sp>
        <p:nvSpPr>
          <p:cNvPr id="23" name="Shape 21"/>
          <p:cNvSpPr/>
          <p:nvPr/>
        </p:nvSpPr>
        <p:spPr>
          <a:xfrm>
            <a:off x="5212080" y="1554480"/>
            <a:ext cx="3383280" cy="2971800"/>
          </a:xfrm>
          <a:prstGeom prst="roundRect">
            <a:avLst>
              <a:gd name="adj" fmla="val 2769"/>
            </a:avLst>
          </a:prstGeom>
          <a:solidFill>
            <a:srgbClr val="0F5132"/>
          </a:solidFill>
          <a:ln/>
        </p:spPr>
      </p:sp>
      <p:sp>
        <p:nvSpPr>
          <p:cNvPr id="24" name="Shape 22"/>
          <p:cNvSpPr/>
          <p:nvPr/>
        </p:nvSpPr>
        <p:spPr>
          <a:xfrm>
            <a:off x="5394960" y="1737360"/>
            <a:ext cx="530352" cy="530352"/>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25" name="Image 0" descr="preencoded.png">    </p:cNvPr>
          <p:cNvPicPr>
            <a:picLocks noChangeAspect="1"/>
          </p:cNvPicPr>
          <p:nvPr/>
        </p:nvPicPr>
        <p:blipFill>
          <a:blip r:embed="rId1"/>
          <a:stretch>
            <a:fillRect/>
          </a:stretch>
        </p:blipFill>
        <p:spPr>
          <a:xfrm>
            <a:off x="5532852" y="1875252"/>
            <a:ext cx="254569" cy="254569"/>
          </a:xfrm>
          <a:prstGeom prst="rect">
            <a:avLst/>
          </a:prstGeom>
        </p:spPr>
      </p:pic>
      <p:sp>
        <p:nvSpPr>
          <p:cNvPr id="26" name="Text 23"/>
          <p:cNvSpPr/>
          <p:nvPr/>
        </p:nvSpPr>
        <p:spPr>
          <a:xfrm>
            <a:off x="6035040" y="1792224"/>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Training setup</a:t>
            </a:r>
            <a:endParaRPr lang="en-US" sz="1600" dirty="0"/>
          </a:p>
        </p:txBody>
      </p:sp>
      <p:sp>
        <p:nvSpPr>
          <p:cNvPr id="27" name="Text 24"/>
          <p:cNvSpPr/>
          <p:nvPr/>
        </p:nvSpPr>
        <p:spPr>
          <a:xfrm>
            <a:off x="5440680" y="2468880"/>
            <a:ext cx="3017520" cy="2011680"/>
          </a:xfrm>
          <a:prstGeom prst="rect">
            <a:avLst/>
          </a:prstGeom>
          <a:noFill/>
          <a:ln/>
        </p:spPr>
        <p:txBody>
          <a:bodyPr wrap="square" lIns="0" tIns="0" rIns="0" bIns="0" rtlCol="0" anchor="ctr"/>
          <a:lstStyle/>
          <a:p>
            <a:pPr marL="342900" indent="-342900">
              <a:spcAft>
                <a:spcPts val="900"/>
              </a:spcAft>
              <a:buSzPct val="100000"/>
              <a:buChar char="•"/>
            </a:pPr>
            <a:r>
              <a:rPr lang="en-US" sz="1200" dirty="0">
                <a:solidFill>
                  <a:srgbClr val="D1FAE5"/>
                </a:solidFill>
                <a:latin typeface="Calibri" pitchFamily="34" charset="0"/>
                <a:ea typeface="Calibri" pitchFamily="34" charset="-122"/>
                <a:cs typeface="Calibri" pitchFamily="34" charset="-120"/>
              </a:rPr>
              <a:t>Loss:  Mean Squared Error</a:t>
            </a:r>
            <a:endParaRPr lang="en-US" sz="1200" dirty="0"/>
          </a:p>
          <a:p>
            <a:pPr marL="342900" indent="-342900">
              <a:spcAft>
                <a:spcPts val="900"/>
              </a:spcAft>
              <a:buSzPct val="100000"/>
              <a:buChar char="•"/>
            </a:pPr>
            <a:r>
              <a:rPr lang="en-US" sz="1200" dirty="0">
                <a:solidFill>
                  <a:srgbClr val="D1FAE5"/>
                </a:solidFill>
                <a:latin typeface="Calibri" pitchFamily="34" charset="0"/>
                <a:ea typeface="Calibri" pitchFamily="34" charset="-122"/>
                <a:cs typeface="Calibri" pitchFamily="34" charset="-120"/>
              </a:rPr>
              <a:t>Optimizer:  Adam (lr = 0.001)</a:t>
            </a:r>
            <a:endParaRPr lang="en-US" sz="1200" dirty="0"/>
          </a:p>
          <a:p>
            <a:pPr marL="342900" indent="-342900">
              <a:spcAft>
                <a:spcPts val="900"/>
              </a:spcAft>
              <a:buSzPct val="100000"/>
              <a:buChar char="•"/>
            </a:pPr>
            <a:r>
              <a:rPr lang="en-US" sz="1200" dirty="0">
                <a:solidFill>
                  <a:srgbClr val="D1FAE5"/>
                </a:solidFill>
                <a:latin typeface="Calibri" pitchFamily="34" charset="0"/>
                <a:ea typeface="Calibri" pitchFamily="34" charset="-122"/>
                <a:cs typeface="Calibri" pitchFamily="34" charset="-120"/>
              </a:rPr>
              <a:t>Window:  30 days  →  predict 1</a:t>
            </a:r>
            <a:endParaRPr lang="en-US" sz="1200" dirty="0"/>
          </a:p>
          <a:p>
            <a:pPr marL="342900" indent="-342900">
              <a:spcAft>
                <a:spcPts val="900"/>
              </a:spcAft>
              <a:buSzPct val="100000"/>
              <a:buChar char="•"/>
            </a:pPr>
            <a:r>
              <a:rPr lang="en-US" sz="1200" dirty="0">
                <a:solidFill>
                  <a:srgbClr val="D1FAE5"/>
                </a:solidFill>
                <a:latin typeface="Calibri" pitchFamily="34" charset="0"/>
                <a:ea typeface="Calibri" pitchFamily="34" charset="-122"/>
                <a:cs typeface="Calibri" pitchFamily="34" charset="-120"/>
              </a:rPr>
              <a:t>Batch size:  32   ·   Epochs:  50</a:t>
            </a:r>
            <a:endParaRPr lang="en-US" sz="1200" dirty="0"/>
          </a:p>
          <a:p>
            <a:pPr marL="342900" indent="-342900">
              <a:spcAft>
                <a:spcPts val="900"/>
              </a:spcAft>
              <a:buSzPct val="100000"/>
              <a:buChar char="•"/>
            </a:pPr>
            <a:r>
              <a:rPr lang="en-US" sz="1200" dirty="0">
                <a:solidFill>
                  <a:srgbClr val="D1FAE5"/>
                </a:solidFill>
                <a:latin typeface="Calibri" pitchFamily="34" charset="0"/>
                <a:ea typeface="Calibri" pitchFamily="34" charset="-122"/>
                <a:cs typeface="Calibri" pitchFamily="34" charset="-120"/>
              </a:rPr>
              <a:t>EarlyStopping on val_loss</a:t>
            </a:r>
            <a:endParaRPr lang="en-US" sz="1200" dirty="0"/>
          </a:p>
          <a:p>
            <a:pPr marL="342900" indent="-342900">
              <a:spcAft>
                <a:spcPts val="900"/>
              </a:spcAft>
              <a:buSzPct val="100000"/>
              <a:buChar char="•"/>
            </a:pPr>
            <a:r>
              <a:rPr lang="en-US" sz="1200" dirty="0">
                <a:solidFill>
                  <a:srgbClr val="D1FAE5"/>
                </a:solidFill>
                <a:latin typeface="Calibri" pitchFamily="34" charset="0"/>
                <a:ea typeface="Calibri" pitchFamily="34" charset="-122"/>
                <a:cs typeface="Calibri" pitchFamily="34" charset="-120"/>
              </a:rPr>
              <a:t>Scaler:  MinMax (0–1)</a:t>
            </a:r>
            <a:endParaRPr lang="en-US" sz="1200" dirty="0"/>
          </a:p>
          <a:p>
            <a:pPr marL="342900" indent="-342900">
              <a:spcAft>
                <a:spcPts val="900"/>
              </a:spcAft>
              <a:buSzPct val="100000"/>
              <a:buChar char="•"/>
            </a:pPr>
            <a:r>
              <a:rPr lang="en-US" sz="1200" dirty="0">
                <a:solidFill>
                  <a:srgbClr val="D1FAE5"/>
                </a:solidFill>
                <a:latin typeface="Calibri" pitchFamily="34" charset="0"/>
                <a:ea typeface="Calibri" pitchFamily="34" charset="-122"/>
                <a:cs typeface="Calibri" pitchFamily="34" charset="-120"/>
              </a:rPr>
              <a:t>~28,000 trainable parameters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lIns="0" tIns="0" rIns="0" bIns="0" rtlCol="0" anchor="ctr"/>
          <a:lstStyle/>
          <a:p>
            <a:pPr indent="0" marL="0">
              <a:buNone/>
            </a:pPr>
            <a:r>
              <a:rPr lang="en-US" sz="3200" b="1" dirty="0">
                <a:solidFill>
                  <a:srgbClr val="0F5132"/>
                </a:solidFill>
                <a:latin typeface="Cambria" pitchFamily="34" charset="0"/>
                <a:ea typeface="Cambria" pitchFamily="34" charset="-122"/>
                <a:cs typeface="Cambria" pitchFamily="34" charset="-120"/>
              </a:rPr>
              <a:t>Methodology — How We Built It</a:t>
            </a:r>
            <a:endParaRPr lang="en-US" sz="3200" dirty="0"/>
          </a:p>
        </p:txBody>
      </p:sp>
      <p:sp>
        <p:nvSpPr>
          <p:cNvPr id="3" name="Shape 1"/>
          <p:cNvSpPr/>
          <p:nvPr/>
        </p:nvSpPr>
        <p:spPr>
          <a:xfrm>
            <a:off x="548640" y="1325880"/>
            <a:ext cx="4069080" cy="914400"/>
          </a:xfrm>
          <a:prstGeom prst="roundRect">
            <a:avLst>
              <a:gd name="adj" fmla="val 7000"/>
            </a:avLst>
          </a:prstGeom>
          <a:solidFill>
            <a:srgbClr val="F6FBF8"/>
          </a:solidFill>
          <a:ln/>
          <a:effectLst>
            <a:outerShdw sx="100000" sy="100000" kx="0" ky="0" algn="bl" rotWithShape="0" blurRad="88900" dist="38100" dir="5400000">
              <a:srgbClr val="000000">
                <a:alpha val="12000"/>
              </a:srgbClr>
            </a:outerShdw>
          </a:effectLst>
        </p:spPr>
      </p:sp>
      <p:sp>
        <p:nvSpPr>
          <p:cNvPr id="4" name="Shape 2"/>
          <p:cNvSpPr/>
          <p:nvPr/>
        </p:nvSpPr>
        <p:spPr>
          <a:xfrm>
            <a:off x="713232" y="1545336"/>
            <a:ext cx="475488" cy="475488"/>
          </a:xfrm>
          <a:prstGeom prst="ellipse">
            <a:avLst/>
          </a:prstGeom>
          <a:solidFill>
            <a:srgbClr val="0F5132"/>
          </a:solidFill>
          <a:ln/>
        </p:spPr>
      </p:sp>
      <p:sp>
        <p:nvSpPr>
          <p:cNvPr id="5" name="Text 3"/>
          <p:cNvSpPr/>
          <p:nvPr/>
        </p:nvSpPr>
        <p:spPr>
          <a:xfrm>
            <a:off x="713232" y="1545336"/>
            <a:ext cx="475488" cy="475488"/>
          </a:xfrm>
          <a:prstGeom prst="rect">
            <a:avLst/>
          </a:prstGeom>
          <a:noFill/>
          <a:ln/>
        </p:spPr>
        <p:txBody>
          <a:bodyPr wrap="square" lIns="0" tIns="0" rIns="0" bIns="0" rtlCol="0" anchor="ctr"/>
          <a:lstStyle/>
          <a:p>
            <a:pPr algn="ctr" indent="0" marL="0">
              <a:buNone/>
            </a:pPr>
            <a:r>
              <a:rPr lang="en-US" sz="2200" b="1" dirty="0">
                <a:solidFill>
                  <a:srgbClr val="F59E0B"/>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1325880" y="1453896"/>
            <a:ext cx="3154680" cy="310896"/>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Generate &amp; explore</a:t>
            </a:r>
            <a:endParaRPr lang="en-US" sz="1400" dirty="0"/>
          </a:p>
        </p:txBody>
      </p:sp>
      <p:sp>
        <p:nvSpPr>
          <p:cNvPr id="7" name="Text 5"/>
          <p:cNvSpPr/>
          <p:nvPr/>
        </p:nvSpPr>
        <p:spPr>
          <a:xfrm>
            <a:off x="1325880" y="1746504"/>
            <a:ext cx="3154680" cy="438912"/>
          </a:xfrm>
          <a:prstGeom prst="rect">
            <a:avLst/>
          </a:prstGeom>
          <a:noFill/>
          <a:ln/>
        </p:spPr>
        <p:txBody>
          <a:bodyPr wrap="square" lIns="0" tIns="0" rIns="0" bIns="0" rtlCol="0" anchor="ctr"/>
          <a:lstStyle/>
          <a:p>
            <a:pPr indent="0" marL="0">
              <a:buNone/>
            </a:pPr>
            <a:r>
              <a:rPr lang="en-US" sz="1080" dirty="0">
                <a:solidFill>
                  <a:srgbClr val="64748B"/>
                </a:solidFill>
                <a:latin typeface="Calibri" pitchFamily="34" charset="0"/>
                <a:ea typeface="Calibri" pitchFamily="34" charset="-122"/>
                <a:cs typeface="Calibri" pitchFamily="34" charset="-120"/>
              </a:rPr>
              <a:t>Build the synthetic dataset; plot demand to confirm seasonality &amp; spikes.</a:t>
            </a:r>
            <a:endParaRPr lang="en-US" sz="1080" dirty="0"/>
          </a:p>
        </p:txBody>
      </p:sp>
      <p:sp>
        <p:nvSpPr>
          <p:cNvPr id="8" name="Shape 6"/>
          <p:cNvSpPr/>
          <p:nvPr/>
        </p:nvSpPr>
        <p:spPr>
          <a:xfrm>
            <a:off x="4782312" y="1325880"/>
            <a:ext cx="4069080" cy="914400"/>
          </a:xfrm>
          <a:prstGeom prst="roundRect">
            <a:avLst>
              <a:gd name="adj" fmla="val 7000"/>
            </a:avLst>
          </a:prstGeom>
          <a:solidFill>
            <a:srgbClr val="F6FBF8"/>
          </a:solidFill>
          <a:ln/>
          <a:effectLst>
            <a:outerShdw sx="100000" sy="100000" kx="0" ky="0" algn="bl" rotWithShape="0" blurRad="88900" dist="38100" dir="5400000">
              <a:srgbClr val="000000">
                <a:alpha val="12000"/>
              </a:srgbClr>
            </a:outerShdw>
          </a:effectLst>
        </p:spPr>
      </p:sp>
      <p:sp>
        <p:nvSpPr>
          <p:cNvPr id="9" name="Shape 7"/>
          <p:cNvSpPr/>
          <p:nvPr/>
        </p:nvSpPr>
        <p:spPr>
          <a:xfrm>
            <a:off x="4946904" y="1545336"/>
            <a:ext cx="475488" cy="475488"/>
          </a:xfrm>
          <a:prstGeom prst="ellipse">
            <a:avLst/>
          </a:prstGeom>
          <a:solidFill>
            <a:srgbClr val="0F5132"/>
          </a:solidFill>
          <a:ln/>
        </p:spPr>
      </p:sp>
      <p:sp>
        <p:nvSpPr>
          <p:cNvPr id="10" name="Text 8"/>
          <p:cNvSpPr/>
          <p:nvPr/>
        </p:nvSpPr>
        <p:spPr>
          <a:xfrm>
            <a:off x="4946904" y="1545336"/>
            <a:ext cx="475488" cy="475488"/>
          </a:xfrm>
          <a:prstGeom prst="rect">
            <a:avLst/>
          </a:prstGeom>
          <a:noFill/>
          <a:ln/>
        </p:spPr>
        <p:txBody>
          <a:bodyPr wrap="square" lIns="0" tIns="0" rIns="0" bIns="0" rtlCol="0" anchor="ctr"/>
          <a:lstStyle/>
          <a:p>
            <a:pPr algn="ctr" indent="0" marL="0">
              <a:buNone/>
            </a:pPr>
            <a:r>
              <a:rPr lang="en-US" sz="2200" b="1" dirty="0">
                <a:solidFill>
                  <a:srgbClr val="F59E0B"/>
                </a:solidFill>
                <a:latin typeface="Cambria" pitchFamily="34" charset="0"/>
                <a:ea typeface="Cambria" pitchFamily="34" charset="-122"/>
                <a:cs typeface="Cambria" pitchFamily="34" charset="-120"/>
              </a:rPr>
              <a:t>2</a:t>
            </a:r>
            <a:endParaRPr lang="en-US" sz="2200" dirty="0"/>
          </a:p>
        </p:txBody>
      </p:sp>
      <p:sp>
        <p:nvSpPr>
          <p:cNvPr id="11" name="Text 9"/>
          <p:cNvSpPr/>
          <p:nvPr/>
        </p:nvSpPr>
        <p:spPr>
          <a:xfrm>
            <a:off x="5559552" y="1453896"/>
            <a:ext cx="3154680" cy="310896"/>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Preprocess</a:t>
            </a:r>
            <a:endParaRPr lang="en-US" sz="1400" dirty="0"/>
          </a:p>
        </p:txBody>
      </p:sp>
      <p:sp>
        <p:nvSpPr>
          <p:cNvPr id="12" name="Text 10"/>
          <p:cNvSpPr/>
          <p:nvPr/>
        </p:nvSpPr>
        <p:spPr>
          <a:xfrm>
            <a:off x="5559552" y="1746504"/>
            <a:ext cx="3154680" cy="438912"/>
          </a:xfrm>
          <a:prstGeom prst="rect">
            <a:avLst/>
          </a:prstGeom>
          <a:noFill/>
          <a:ln/>
        </p:spPr>
        <p:txBody>
          <a:bodyPr wrap="square" lIns="0" tIns="0" rIns="0" bIns="0" rtlCol="0" anchor="ctr"/>
          <a:lstStyle/>
          <a:p>
            <a:pPr indent="0" marL="0">
              <a:buNone/>
            </a:pPr>
            <a:r>
              <a:rPr lang="en-US" sz="1080" dirty="0">
                <a:solidFill>
                  <a:srgbClr val="64748B"/>
                </a:solidFill>
                <a:latin typeface="Calibri" pitchFamily="34" charset="0"/>
                <a:ea typeface="Calibri" pitchFamily="34" charset="-122"/>
                <a:cs typeface="Calibri" pitchFamily="34" charset="-120"/>
              </a:rPr>
              <a:t>MinMax scale features; create sliding 30-day → next-day windows.</a:t>
            </a:r>
            <a:endParaRPr lang="en-US" sz="1080" dirty="0"/>
          </a:p>
        </p:txBody>
      </p:sp>
      <p:sp>
        <p:nvSpPr>
          <p:cNvPr id="13" name="Shape 11"/>
          <p:cNvSpPr/>
          <p:nvPr/>
        </p:nvSpPr>
        <p:spPr>
          <a:xfrm>
            <a:off x="548640" y="2404872"/>
            <a:ext cx="4069080" cy="914400"/>
          </a:xfrm>
          <a:prstGeom prst="roundRect">
            <a:avLst>
              <a:gd name="adj" fmla="val 7000"/>
            </a:avLst>
          </a:prstGeom>
          <a:solidFill>
            <a:srgbClr val="F6FBF8"/>
          </a:solidFill>
          <a:ln/>
          <a:effectLst>
            <a:outerShdw sx="100000" sy="100000" kx="0" ky="0" algn="bl" rotWithShape="0" blurRad="88900" dist="38100" dir="5400000">
              <a:srgbClr val="000000">
                <a:alpha val="12000"/>
              </a:srgbClr>
            </a:outerShdw>
          </a:effectLst>
        </p:spPr>
      </p:sp>
      <p:sp>
        <p:nvSpPr>
          <p:cNvPr id="14" name="Shape 12"/>
          <p:cNvSpPr/>
          <p:nvPr/>
        </p:nvSpPr>
        <p:spPr>
          <a:xfrm>
            <a:off x="713232" y="2624328"/>
            <a:ext cx="475488" cy="475488"/>
          </a:xfrm>
          <a:prstGeom prst="ellipse">
            <a:avLst/>
          </a:prstGeom>
          <a:solidFill>
            <a:srgbClr val="0F5132"/>
          </a:solidFill>
          <a:ln/>
        </p:spPr>
      </p:sp>
      <p:sp>
        <p:nvSpPr>
          <p:cNvPr id="15" name="Text 13"/>
          <p:cNvSpPr/>
          <p:nvPr/>
        </p:nvSpPr>
        <p:spPr>
          <a:xfrm>
            <a:off x="713232" y="2624328"/>
            <a:ext cx="475488" cy="475488"/>
          </a:xfrm>
          <a:prstGeom prst="rect">
            <a:avLst/>
          </a:prstGeom>
          <a:noFill/>
          <a:ln/>
        </p:spPr>
        <p:txBody>
          <a:bodyPr wrap="square" lIns="0" tIns="0" rIns="0" bIns="0" rtlCol="0" anchor="ctr"/>
          <a:lstStyle/>
          <a:p>
            <a:pPr algn="ctr" indent="0" marL="0">
              <a:buNone/>
            </a:pPr>
            <a:r>
              <a:rPr lang="en-US" sz="2200" b="1" dirty="0">
                <a:solidFill>
                  <a:srgbClr val="F59E0B"/>
                </a:solidFill>
                <a:latin typeface="Cambria" pitchFamily="34" charset="0"/>
                <a:ea typeface="Cambria" pitchFamily="34" charset="-122"/>
                <a:cs typeface="Cambria" pitchFamily="34" charset="-120"/>
              </a:rPr>
              <a:t>3</a:t>
            </a:r>
            <a:endParaRPr lang="en-US" sz="2200" dirty="0"/>
          </a:p>
        </p:txBody>
      </p:sp>
      <p:sp>
        <p:nvSpPr>
          <p:cNvPr id="16" name="Text 14"/>
          <p:cNvSpPr/>
          <p:nvPr/>
        </p:nvSpPr>
        <p:spPr>
          <a:xfrm>
            <a:off x="1325880" y="2532888"/>
            <a:ext cx="3154680" cy="310896"/>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Train the LSTM</a:t>
            </a:r>
            <a:endParaRPr lang="en-US" sz="1400" dirty="0"/>
          </a:p>
        </p:txBody>
      </p:sp>
      <p:sp>
        <p:nvSpPr>
          <p:cNvPr id="17" name="Text 15"/>
          <p:cNvSpPr/>
          <p:nvPr/>
        </p:nvSpPr>
        <p:spPr>
          <a:xfrm>
            <a:off x="1325880" y="2825496"/>
            <a:ext cx="3154680" cy="438912"/>
          </a:xfrm>
          <a:prstGeom prst="rect">
            <a:avLst/>
          </a:prstGeom>
          <a:noFill/>
          <a:ln/>
        </p:spPr>
        <p:txBody>
          <a:bodyPr wrap="square" lIns="0" tIns="0" rIns="0" bIns="0" rtlCol="0" anchor="ctr"/>
          <a:lstStyle/>
          <a:p>
            <a:pPr indent="0" marL="0">
              <a:buNone/>
            </a:pPr>
            <a:r>
              <a:rPr lang="en-US" sz="1080" dirty="0">
                <a:solidFill>
                  <a:srgbClr val="64748B"/>
                </a:solidFill>
                <a:latin typeface="Calibri" pitchFamily="34" charset="0"/>
                <a:ea typeface="Calibri" pitchFamily="34" charset="-122"/>
                <a:cs typeface="Calibri" pitchFamily="34" charset="-120"/>
              </a:rPr>
              <a:t>Fit on 2 years of history with EarlyStopping; watch validation loss.</a:t>
            </a:r>
            <a:endParaRPr lang="en-US" sz="1080" dirty="0"/>
          </a:p>
        </p:txBody>
      </p:sp>
      <p:sp>
        <p:nvSpPr>
          <p:cNvPr id="18" name="Shape 16"/>
          <p:cNvSpPr/>
          <p:nvPr/>
        </p:nvSpPr>
        <p:spPr>
          <a:xfrm>
            <a:off x="4782312" y="2404872"/>
            <a:ext cx="4069080" cy="914400"/>
          </a:xfrm>
          <a:prstGeom prst="roundRect">
            <a:avLst>
              <a:gd name="adj" fmla="val 7000"/>
            </a:avLst>
          </a:prstGeom>
          <a:solidFill>
            <a:srgbClr val="F6FBF8"/>
          </a:solidFill>
          <a:ln/>
          <a:effectLst>
            <a:outerShdw sx="100000" sy="100000" kx="0" ky="0" algn="bl" rotWithShape="0" blurRad="88900" dist="38100" dir="5400000">
              <a:srgbClr val="000000">
                <a:alpha val="12000"/>
              </a:srgbClr>
            </a:outerShdw>
          </a:effectLst>
        </p:spPr>
      </p:sp>
      <p:sp>
        <p:nvSpPr>
          <p:cNvPr id="19" name="Shape 17"/>
          <p:cNvSpPr/>
          <p:nvPr/>
        </p:nvSpPr>
        <p:spPr>
          <a:xfrm>
            <a:off x="4946904" y="2624328"/>
            <a:ext cx="475488" cy="475488"/>
          </a:xfrm>
          <a:prstGeom prst="ellipse">
            <a:avLst/>
          </a:prstGeom>
          <a:solidFill>
            <a:srgbClr val="0F5132"/>
          </a:solidFill>
          <a:ln/>
        </p:spPr>
      </p:sp>
      <p:sp>
        <p:nvSpPr>
          <p:cNvPr id="20" name="Text 18"/>
          <p:cNvSpPr/>
          <p:nvPr/>
        </p:nvSpPr>
        <p:spPr>
          <a:xfrm>
            <a:off x="4946904" y="2624328"/>
            <a:ext cx="475488" cy="475488"/>
          </a:xfrm>
          <a:prstGeom prst="rect">
            <a:avLst/>
          </a:prstGeom>
          <a:noFill/>
          <a:ln/>
        </p:spPr>
        <p:txBody>
          <a:bodyPr wrap="square" lIns="0" tIns="0" rIns="0" bIns="0" rtlCol="0" anchor="ctr"/>
          <a:lstStyle/>
          <a:p>
            <a:pPr algn="ctr" indent="0" marL="0">
              <a:buNone/>
            </a:pPr>
            <a:r>
              <a:rPr lang="en-US" sz="2200" b="1" dirty="0">
                <a:solidFill>
                  <a:srgbClr val="F59E0B"/>
                </a:solidFill>
                <a:latin typeface="Cambria" pitchFamily="34" charset="0"/>
                <a:ea typeface="Cambria" pitchFamily="34" charset="-122"/>
                <a:cs typeface="Cambria" pitchFamily="34" charset="-120"/>
              </a:rPr>
              <a:t>4</a:t>
            </a:r>
            <a:endParaRPr lang="en-US" sz="2200" dirty="0"/>
          </a:p>
        </p:txBody>
      </p:sp>
      <p:sp>
        <p:nvSpPr>
          <p:cNvPr id="21" name="Text 19"/>
          <p:cNvSpPr/>
          <p:nvPr/>
        </p:nvSpPr>
        <p:spPr>
          <a:xfrm>
            <a:off x="5559552" y="2532888"/>
            <a:ext cx="3154680" cy="310896"/>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Evaluate</a:t>
            </a:r>
            <a:endParaRPr lang="en-US" sz="1400" dirty="0"/>
          </a:p>
        </p:txBody>
      </p:sp>
      <p:sp>
        <p:nvSpPr>
          <p:cNvPr id="22" name="Text 20"/>
          <p:cNvSpPr/>
          <p:nvPr/>
        </p:nvSpPr>
        <p:spPr>
          <a:xfrm>
            <a:off x="5559552" y="2825496"/>
            <a:ext cx="3154680" cy="438912"/>
          </a:xfrm>
          <a:prstGeom prst="rect">
            <a:avLst/>
          </a:prstGeom>
          <a:noFill/>
          <a:ln/>
        </p:spPr>
        <p:txBody>
          <a:bodyPr wrap="square" lIns="0" tIns="0" rIns="0" bIns="0" rtlCol="0" anchor="ctr"/>
          <a:lstStyle/>
          <a:p>
            <a:pPr indent="0" marL="0">
              <a:buNone/>
            </a:pPr>
            <a:r>
              <a:rPr lang="en-US" sz="1080" dirty="0">
                <a:solidFill>
                  <a:srgbClr val="64748B"/>
                </a:solidFill>
                <a:latin typeface="Calibri" pitchFamily="34" charset="0"/>
                <a:ea typeface="Calibri" pitchFamily="34" charset="-122"/>
                <a:cs typeface="Calibri" pitchFamily="34" charset="-120"/>
              </a:rPr>
              <a:t>Compare predictions vs actuals using RMSE, MAE &amp; MAPE on unseen data.</a:t>
            </a:r>
            <a:endParaRPr lang="en-US" sz="1080" dirty="0"/>
          </a:p>
        </p:txBody>
      </p:sp>
      <p:sp>
        <p:nvSpPr>
          <p:cNvPr id="23" name="Shape 21"/>
          <p:cNvSpPr/>
          <p:nvPr/>
        </p:nvSpPr>
        <p:spPr>
          <a:xfrm>
            <a:off x="548640" y="3483864"/>
            <a:ext cx="4069080" cy="914400"/>
          </a:xfrm>
          <a:prstGeom prst="roundRect">
            <a:avLst>
              <a:gd name="adj" fmla="val 7000"/>
            </a:avLst>
          </a:prstGeom>
          <a:solidFill>
            <a:srgbClr val="F6FBF8"/>
          </a:solidFill>
          <a:ln/>
          <a:effectLst>
            <a:outerShdw sx="100000" sy="100000" kx="0" ky="0" algn="bl" rotWithShape="0" blurRad="88900" dist="38100" dir="5400000">
              <a:srgbClr val="000000">
                <a:alpha val="12000"/>
              </a:srgbClr>
            </a:outerShdw>
          </a:effectLst>
        </p:spPr>
      </p:sp>
      <p:sp>
        <p:nvSpPr>
          <p:cNvPr id="24" name="Shape 22"/>
          <p:cNvSpPr/>
          <p:nvPr/>
        </p:nvSpPr>
        <p:spPr>
          <a:xfrm>
            <a:off x="713232" y="3703320"/>
            <a:ext cx="475488" cy="475488"/>
          </a:xfrm>
          <a:prstGeom prst="ellipse">
            <a:avLst/>
          </a:prstGeom>
          <a:solidFill>
            <a:srgbClr val="0F5132"/>
          </a:solidFill>
          <a:ln/>
        </p:spPr>
      </p:sp>
      <p:sp>
        <p:nvSpPr>
          <p:cNvPr id="25" name="Text 23"/>
          <p:cNvSpPr/>
          <p:nvPr/>
        </p:nvSpPr>
        <p:spPr>
          <a:xfrm>
            <a:off x="713232" y="3703320"/>
            <a:ext cx="475488" cy="475488"/>
          </a:xfrm>
          <a:prstGeom prst="rect">
            <a:avLst/>
          </a:prstGeom>
          <a:noFill/>
          <a:ln/>
        </p:spPr>
        <p:txBody>
          <a:bodyPr wrap="square" lIns="0" tIns="0" rIns="0" bIns="0" rtlCol="0" anchor="ctr"/>
          <a:lstStyle/>
          <a:p>
            <a:pPr algn="ctr" indent="0" marL="0">
              <a:buNone/>
            </a:pPr>
            <a:r>
              <a:rPr lang="en-US" sz="2200" b="1" dirty="0">
                <a:solidFill>
                  <a:srgbClr val="F59E0B"/>
                </a:solidFill>
                <a:latin typeface="Cambria" pitchFamily="34" charset="0"/>
                <a:ea typeface="Cambria" pitchFamily="34" charset="-122"/>
                <a:cs typeface="Cambria" pitchFamily="34" charset="-120"/>
              </a:rPr>
              <a:t>5</a:t>
            </a:r>
            <a:endParaRPr lang="en-US" sz="2200" dirty="0"/>
          </a:p>
        </p:txBody>
      </p:sp>
      <p:sp>
        <p:nvSpPr>
          <p:cNvPr id="26" name="Text 24"/>
          <p:cNvSpPr/>
          <p:nvPr/>
        </p:nvSpPr>
        <p:spPr>
          <a:xfrm>
            <a:off x="1325880" y="3611880"/>
            <a:ext cx="3154680" cy="310896"/>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Decision engine</a:t>
            </a:r>
            <a:endParaRPr lang="en-US" sz="1400" dirty="0"/>
          </a:p>
        </p:txBody>
      </p:sp>
      <p:sp>
        <p:nvSpPr>
          <p:cNvPr id="27" name="Text 25"/>
          <p:cNvSpPr/>
          <p:nvPr/>
        </p:nvSpPr>
        <p:spPr>
          <a:xfrm>
            <a:off x="1325880" y="3904488"/>
            <a:ext cx="3154680" cy="438912"/>
          </a:xfrm>
          <a:prstGeom prst="rect">
            <a:avLst/>
          </a:prstGeom>
          <a:noFill/>
          <a:ln/>
        </p:spPr>
        <p:txBody>
          <a:bodyPr wrap="square" lIns="0" tIns="0" rIns="0" bIns="0" rtlCol="0" anchor="ctr"/>
          <a:lstStyle/>
          <a:p>
            <a:pPr indent="0" marL="0">
              <a:buNone/>
            </a:pPr>
            <a:r>
              <a:rPr lang="en-US" sz="1080" dirty="0">
                <a:solidFill>
                  <a:srgbClr val="64748B"/>
                </a:solidFill>
                <a:latin typeface="Calibri" pitchFamily="34" charset="0"/>
                <a:ea typeface="Calibri" pitchFamily="34" charset="-122"/>
                <a:cs typeface="Calibri" pitchFamily="34" charset="-120"/>
              </a:rPr>
              <a:t>Convert forecast + safety stock into Approve / Reorder / Urgent.</a:t>
            </a:r>
            <a:endParaRPr lang="en-US" sz="1080" dirty="0"/>
          </a:p>
        </p:txBody>
      </p:sp>
      <p:sp>
        <p:nvSpPr>
          <p:cNvPr id="28" name="Shape 26"/>
          <p:cNvSpPr/>
          <p:nvPr/>
        </p:nvSpPr>
        <p:spPr>
          <a:xfrm>
            <a:off x="4782312" y="3483864"/>
            <a:ext cx="4069080" cy="914400"/>
          </a:xfrm>
          <a:prstGeom prst="roundRect">
            <a:avLst>
              <a:gd name="adj" fmla="val 7000"/>
            </a:avLst>
          </a:prstGeom>
          <a:solidFill>
            <a:srgbClr val="F6FBF8"/>
          </a:solidFill>
          <a:ln/>
          <a:effectLst>
            <a:outerShdw sx="100000" sy="100000" kx="0" ky="0" algn="bl" rotWithShape="0" blurRad="88900" dist="38100" dir="5400000">
              <a:srgbClr val="000000">
                <a:alpha val="12000"/>
              </a:srgbClr>
            </a:outerShdw>
          </a:effectLst>
        </p:spPr>
      </p:sp>
      <p:sp>
        <p:nvSpPr>
          <p:cNvPr id="29" name="Shape 27"/>
          <p:cNvSpPr/>
          <p:nvPr/>
        </p:nvSpPr>
        <p:spPr>
          <a:xfrm>
            <a:off x="4946904" y="3703320"/>
            <a:ext cx="475488" cy="475488"/>
          </a:xfrm>
          <a:prstGeom prst="ellipse">
            <a:avLst/>
          </a:prstGeom>
          <a:solidFill>
            <a:srgbClr val="0F5132"/>
          </a:solidFill>
          <a:ln/>
        </p:spPr>
      </p:sp>
      <p:sp>
        <p:nvSpPr>
          <p:cNvPr id="30" name="Text 28"/>
          <p:cNvSpPr/>
          <p:nvPr/>
        </p:nvSpPr>
        <p:spPr>
          <a:xfrm>
            <a:off x="4946904" y="3703320"/>
            <a:ext cx="475488" cy="475488"/>
          </a:xfrm>
          <a:prstGeom prst="rect">
            <a:avLst/>
          </a:prstGeom>
          <a:noFill/>
          <a:ln/>
        </p:spPr>
        <p:txBody>
          <a:bodyPr wrap="square" lIns="0" tIns="0" rIns="0" bIns="0" rtlCol="0" anchor="ctr"/>
          <a:lstStyle/>
          <a:p>
            <a:pPr algn="ctr" indent="0" marL="0">
              <a:buNone/>
            </a:pPr>
            <a:r>
              <a:rPr lang="en-US" sz="2200" b="1" dirty="0">
                <a:solidFill>
                  <a:srgbClr val="F59E0B"/>
                </a:solidFill>
                <a:latin typeface="Cambria" pitchFamily="34" charset="0"/>
                <a:ea typeface="Cambria" pitchFamily="34" charset="-122"/>
                <a:cs typeface="Cambria" pitchFamily="34" charset="-120"/>
              </a:rPr>
              <a:t>6</a:t>
            </a:r>
            <a:endParaRPr lang="en-US" sz="2200" dirty="0"/>
          </a:p>
        </p:txBody>
      </p:sp>
      <p:sp>
        <p:nvSpPr>
          <p:cNvPr id="31" name="Text 29"/>
          <p:cNvSpPr/>
          <p:nvPr/>
        </p:nvSpPr>
        <p:spPr>
          <a:xfrm>
            <a:off x="5559552" y="3611880"/>
            <a:ext cx="3154680" cy="310896"/>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Deploy &amp; demo</a:t>
            </a:r>
            <a:endParaRPr lang="en-US" sz="1400" dirty="0"/>
          </a:p>
        </p:txBody>
      </p:sp>
      <p:sp>
        <p:nvSpPr>
          <p:cNvPr id="32" name="Text 30"/>
          <p:cNvSpPr/>
          <p:nvPr/>
        </p:nvSpPr>
        <p:spPr>
          <a:xfrm>
            <a:off x="5559552" y="3904488"/>
            <a:ext cx="3154680" cy="438912"/>
          </a:xfrm>
          <a:prstGeom prst="rect">
            <a:avLst/>
          </a:prstGeom>
          <a:noFill/>
          <a:ln/>
        </p:spPr>
        <p:txBody>
          <a:bodyPr wrap="square" lIns="0" tIns="0" rIns="0" bIns="0" rtlCol="0" anchor="ctr"/>
          <a:lstStyle/>
          <a:p>
            <a:pPr indent="0" marL="0">
              <a:buNone/>
            </a:pPr>
            <a:r>
              <a:rPr lang="en-US" sz="1080" dirty="0">
                <a:solidFill>
                  <a:srgbClr val="64748B"/>
                </a:solidFill>
                <a:latin typeface="Calibri" pitchFamily="34" charset="0"/>
                <a:ea typeface="Calibri" pitchFamily="34" charset="-122"/>
                <a:cs typeface="Calibri" pitchFamily="34" charset="-120"/>
              </a:rPr>
              <a:t>Serve via FastAPI; show reorder alerts in a Streamlit dashboard.</a:t>
            </a:r>
            <a:endParaRPr lang="en-US" sz="10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lIns="0" tIns="0" rIns="0" bIns="0" rtlCol="0" anchor="ctr"/>
          <a:lstStyle/>
          <a:p>
            <a:pPr indent="0" marL="0">
              <a:buNone/>
            </a:pPr>
            <a:r>
              <a:rPr lang="en-US" sz="3400" b="1" dirty="0">
                <a:solidFill>
                  <a:srgbClr val="0F5132"/>
                </a:solidFill>
                <a:latin typeface="Cambria" pitchFamily="34" charset="0"/>
                <a:ea typeface="Cambria" pitchFamily="34" charset="-122"/>
                <a:cs typeface="Cambria" pitchFamily="34" charset="-120"/>
              </a:rPr>
              <a:t>Results &amp; Evaluation</a:t>
            </a:r>
            <a:endParaRPr lang="en-US" sz="3400" dirty="0"/>
          </a:p>
        </p:txBody>
      </p:sp>
      <p:sp>
        <p:nvSpPr>
          <p:cNvPr id="3" name="Text 1"/>
          <p:cNvSpPr/>
          <p:nvPr/>
        </p:nvSpPr>
        <p:spPr>
          <a:xfrm>
            <a:off x="548640" y="1024128"/>
            <a:ext cx="8229600" cy="36576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The forecast tracks actual demand closely — including weekend and holiday spikes.</a:t>
            </a:r>
            <a:endParaRPr lang="en-US" sz="1350" dirty="0"/>
          </a:p>
        </p:txBody>
      </p:sp>
      <p:graphicFrame>
        <p:nvGraphicFramePr>
          <p:cNvPr id="4" name="Chart 0" descr=""/>
          <p:cNvGraphicFramePr/>
          <p:nvPr/>
        </p:nvGraphicFramePr>
        <p:xfrm>
          <a:off x="502920" y="1508760"/>
          <a:ext cx="5349240" cy="3017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126480" y="1554480"/>
            <a:ext cx="2468880" cy="713232"/>
          </a:xfrm>
          <a:prstGeom prst="roundRect">
            <a:avLst>
              <a:gd name="adj" fmla="val 8974"/>
            </a:avLst>
          </a:prstGeom>
          <a:solidFill>
            <a:srgbClr val="F6FBF8"/>
          </a:solidFill>
          <a:ln/>
          <a:effectLst>
            <a:outerShdw sx="100000" sy="100000" kx="0" ky="0" algn="bl" rotWithShape="0" blurRad="88900" dist="38100" dir="5400000">
              <a:srgbClr val="000000">
                <a:alpha val="12000"/>
              </a:srgbClr>
            </a:outerShdw>
          </a:effectLst>
        </p:spPr>
      </p:sp>
      <p:sp>
        <p:nvSpPr>
          <p:cNvPr id="6" name="Text 3"/>
          <p:cNvSpPr/>
          <p:nvPr/>
        </p:nvSpPr>
        <p:spPr>
          <a:xfrm>
            <a:off x="6263640" y="1664208"/>
            <a:ext cx="868680" cy="457200"/>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RMSE</a:t>
            </a:r>
            <a:endParaRPr lang="en-US" sz="1300" dirty="0"/>
          </a:p>
        </p:txBody>
      </p:sp>
      <p:sp>
        <p:nvSpPr>
          <p:cNvPr id="7" name="Text 4"/>
          <p:cNvSpPr/>
          <p:nvPr/>
        </p:nvSpPr>
        <p:spPr>
          <a:xfrm>
            <a:off x="7040880" y="1572768"/>
            <a:ext cx="868680" cy="502920"/>
          </a:xfrm>
          <a:prstGeom prst="rect">
            <a:avLst/>
          </a:prstGeom>
          <a:noFill/>
          <a:ln/>
        </p:spPr>
        <p:txBody>
          <a:bodyPr wrap="square" lIns="0" tIns="0" rIns="0" bIns="0" rtlCol="0" anchor="ctr"/>
          <a:lstStyle/>
          <a:p>
            <a:pPr algn="ctr" indent="0" marL="0">
              <a:buNone/>
            </a:pPr>
            <a:r>
              <a:rPr lang="en-US" sz="2600" b="1" dirty="0">
                <a:solidFill>
                  <a:srgbClr val="1E293B"/>
                </a:solidFill>
                <a:latin typeface="Cambria" pitchFamily="34" charset="0"/>
                <a:ea typeface="Cambria" pitchFamily="34" charset="-122"/>
                <a:cs typeface="Cambria" pitchFamily="34" charset="-120"/>
              </a:rPr>
              <a:t>8.1</a:t>
            </a:r>
            <a:endParaRPr lang="en-US" sz="2600" dirty="0"/>
          </a:p>
        </p:txBody>
      </p:sp>
      <p:sp>
        <p:nvSpPr>
          <p:cNvPr id="8" name="Text 5"/>
          <p:cNvSpPr/>
          <p:nvPr/>
        </p:nvSpPr>
        <p:spPr>
          <a:xfrm>
            <a:off x="7818120" y="1673352"/>
            <a:ext cx="731520" cy="457200"/>
          </a:xfrm>
          <a:prstGeom prst="rect">
            <a:avLst/>
          </a:prstGeom>
          <a:noFill/>
          <a:ln/>
        </p:spPr>
        <p:txBody>
          <a:bodyPr wrap="square" lIns="0" tIns="0" rIns="0" bIns="0" rtlCol="0" anchor="ctr"/>
          <a:lstStyle/>
          <a:p>
            <a:pPr indent="0" marL="0">
              <a:buNone/>
            </a:pPr>
            <a:r>
              <a:rPr lang="en-US" sz="880" dirty="0">
                <a:solidFill>
                  <a:srgbClr val="64748B"/>
                </a:solidFill>
                <a:latin typeface="Calibri" pitchFamily="34" charset="0"/>
                <a:ea typeface="Calibri" pitchFamily="34" charset="-122"/>
                <a:cs typeface="Calibri" pitchFamily="34" charset="-120"/>
              </a:rPr>
              <a:t>units avg error</a:t>
            </a:r>
            <a:endParaRPr lang="en-US" sz="880" dirty="0"/>
          </a:p>
        </p:txBody>
      </p:sp>
      <p:sp>
        <p:nvSpPr>
          <p:cNvPr id="9" name="Shape 6"/>
          <p:cNvSpPr/>
          <p:nvPr/>
        </p:nvSpPr>
        <p:spPr>
          <a:xfrm>
            <a:off x="6126480" y="2377440"/>
            <a:ext cx="2468880" cy="713232"/>
          </a:xfrm>
          <a:prstGeom prst="roundRect">
            <a:avLst>
              <a:gd name="adj" fmla="val 8974"/>
            </a:avLst>
          </a:prstGeom>
          <a:solidFill>
            <a:srgbClr val="F6FBF8"/>
          </a:solidFill>
          <a:ln/>
          <a:effectLst>
            <a:outerShdw sx="100000" sy="100000" kx="0" ky="0" algn="bl" rotWithShape="0" blurRad="88900" dist="38100" dir="5400000">
              <a:srgbClr val="000000">
                <a:alpha val="12000"/>
              </a:srgbClr>
            </a:outerShdw>
          </a:effectLst>
        </p:spPr>
      </p:sp>
      <p:sp>
        <p:nvSpPr>
          <p:cNvPr id="10" name="Text 7"/>
          <p:cNvSpPr/>
          <p:nvPr/>
        </p:nvSpPr>
        <p:spPr>
          <a:xfrm>
            <a:off x="6263640" y="2487168"/>
            <a:ext cx="868680" cy="457200"/>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MAE</a:t>
            </a:r>
            <a:endParaRPr lang="en-US" sz="1300" dirty="0"/>
          </a:p>
        </p:txBody>
      </p:sp>
      <p:sp>
        <p:nvSpPr>
          <p:cNvPr id="11" name="Text 8"/>
          <p:cNvSpPr/>
          <p:nvPr/>
        </p:nvSpPr>
        <p:spPr>
          <a:xfrm>
            <a:off x="7040880" y="2395728"/>
            <a:ext cx="868680" cy="502920"/>
          </a:xfrm>
          <a:prstGeom prst="rect">
            <a:avLst/>
          </a:prstGeom>
          <a:noFill/>
          <a:ln/>
        </p:spPr>
        <p:txBody>
          <a:bodyPr wrap="square" lIns="0" tIns="0" rIns="0" bIns="0" rtlCol="0" anchor="ctr"/>
          <a:lstStyle/>
          <a:p>
            <a:pPr algn="ctr" indent="0" marL="0">
              <a:buNone/>
            </a:pPr>
            <a:r>
              <a:rPr lang="en-US" sz="2600" b="1" dirty="0">
                <a:solidFill>
                  <a:srgbClr val="1E293B"/>
                </a:solidFill>
                <a:latin typeface="Cambria" pitchFamily="34" charset="0"/>
                <a:ea typeface="Cambria" pitchFamily="34" charset="-122"/>
                <a:cs typeface="Cambria" pitchFamily="34" charset="-120"/>
              </a:rPr>
              <a:t>6.3</a:t>
            </a:r>
            <a:endParaRPr lang="en-US" sz="2600" dirty="0"/>
          </a:p>
        </p:txBody>
      </p:sp>
      <p:sp>
        <p:nvSpPr>
          <p:cNvPr id="12" name="Text 9"/>
          <p:cNvSpPr/>
          <p:nvPr/>
        </p:nvSpPr>
        <p:spPr>
          <a:xfrm>
            <a:off x="7818120" y="2496312"/>
            <a:ext cx="731520" cy="457200"/>
          </a:xfrm>
          <a:prstGeom prst="rect">
            <a:avLst/>
          </a:prstGeom>
          <a:noFill/>
          <a:ln/>
        </p:spPr>
        <p:txBody>
          <a:bodyPr wrap="square" lIns="0" tIns="0" rIns="0" bIns="0" rtlCol="0" anchor="ctr"/>
          <a:lstStyle/>
          <a:p>
            <a:pPr indent="0" marL="0">
              <a:buNone/>
            </a:pPr>
            <a:r>
              <a:rPr lang="en-US" sz="880" dirty="0">
                <a:solidFill>
                  <a:srgbClr val="64748B"/>
                </a:solidFill>
                <a:latin typeface="Calibri" pitchFamily="34" charset="0"/>
                <a:ea typeface="Calibri" pitchFamily="34" charset="-122"/>
                <a:cs typeface="Calibri" pitchFamily="34" charset="-120"/>
              </a:rPr>
              <a:t>units avg error</a:t>
            </a:r>
            <a:endParaRPr lang="en-US" sz="880" dirty="0"/>
          </a:p>
        </p:txBody>
      </p:sp>
      <p:sp>
        <p:nvSpPr>
          <p:cNvPr id="13" name="Shape 10"/>
          <p:cNvSpPr/>
          <p:nvPr/>
        </p:nvSpPr>
        <p:spPr>
          <a:xfrm>
            <a:off x="6126480" y="3200400"/>
            <a:ext cx="2468880" cy="713232"/>
          </a:xfrm>
          <a:prstGeom prst="roundRect">
            <a:avLst>
              <a:gd name="adj" fmla="val 8974"/>
            </a:avLst>
          </a:prstGeom>
          <a:solidFill>
            <a:srgbClr val="0F5132"/>
          </a:solidFill>
          <a:ln/>
          <a:effectLst>
            <a:outerShdw sx="100000" sy="100000" kx="0" ky="0" algn="bl" rotWithShape="0" blurRad="88900" dist="38100" dir="5400000">
              <a:srgbClr val="000000">
                <a:alpha val="12000"/>
              </a:srgbClr>
            </a:outerShdw>
          </a:effectLst>
        </p:spPr>
      </p:sp>
      <p:sp>
        <p:nvSpPr>
          <p:cNvPr id="14" name="Text 11"/>
          <p:cNvSpPr/>
          <p:nvPr/>
        </p:nvSpPr>
        <p:spPr>
          <a:xfrm>
            <a:off x="6263640" y="3310128"/>
            <a:ext cx="868680" cy="45720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MAPE</a:t>
            </a:r>
            <a:endParaRPr lang="en-US" sz="1300" dirty="0"/>
          </a:p>
        </p:txBody>
      </p:sp>
      <p:sp>
        <p:nvSpPr>
          <p:cNvPr id="15" name="Text 12"/>
          <p:cNvSpPr/>
          <p:nvPr/>
        </p:nvSpPr>
        <p:spPr>
          <a:xfrm>
            <a:off x="7040880" y="3218688"/>
            <a:ext cx="86868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4.7%</a:t>
            </a:r>
            <a:endParaRPr lang="en-US" sz="2600" dirty="0"/>
          </a:p>
        </p:txBody>
      </p:sp>
      <p:sp>
        <p:nvSpPr>
          <p:cNvPr id="16" name="Text 13"/>
          <p:cNvSpPr/>
          <p:nvPr/>
        </p:nvSpPr>
        <p:spPr>
          <a:xfrm>
            <a:off x="7818120" y="3319272"/>
            <a:ext cx="731520" cy="457200"/>
          </a:xfrm>
          <a:prstGeom prst="rect">
            <a:avLst/>
          </a:prstGeom>
          <a:noFill/>
          <a:ln/>
        </p:spPr>
        <p:txBody>
          <a:bodyPr wrap="square" lIns="0" tIns="0" rIns="0" bIns="0" rtlCol="0" anchor="ctr"/>
          <a:lstStyle/>
          <a:p>
            <a:pPr indent="0" marL="0">
              <a:buNone/>
            </a:pPr>
            <a:r>
              <a:rPr lang="en-US" sz="880" dirty="0">
                <a:solidFill>
                  <a:srgbClr val="D1FAE5"/>
                </a:solidFill>
                <a:latin typeface="Calibri" pitchFamily="34" charset="0"/>
                <a:ea typeface="Calibri" pitchFamily="34" charset="-122"/>
                <a:cs typeface="Calibri" pitchFamily="34" charset="-120"/>
              </a:rPr>
              <a:t>mean % error</a:t>
            </a:r>
            <a:endParaRPr lang="en-US" sz="880" dirty="0"/>
          </a:p>
        </p:txBody>
      </p:sp>
      <p:sp>
        <p:nvSpPr>
          <p:cNvPr id="17" name="Shape 14"/>
          <p:cNvSpPr/>
          <p:nvPr/>
        </p:nvSpPr>
        <p:spPr>
          <a:xfrm>
            <a:off x="6126480" y="4023360"/>
            <a:ext cx="2468880" cy="713232"/>
          </a:xfrm>
          <a:prstGeom prst="roundRect">
            <a:avLst>
              <a:gd name="adj" fmla="val 8974"/>
            </a:avLst>
          </a:prstGeom>
          <a:solidFill>
            <a:srgbClr val="F6FBF8"/>
          </a:solidFill>
          <a:ln/>
          <a:effectLst>
            <a:outerShdw sx="100000" sy="100000" kx="0" ky="0" algn="bl" rotWithShape="0" blurRad="88900" dist="38100" dir="5400000">
              <a:srgbClr val="000000">
                <a:alpha val="12000"/>
              </a:srgbClr>
            </a:outerShdw>
          </a:effectLst>
        </p:spPr>
      </p:sp>
      <p:sp>
        <p:nvSpPr>
          <p:cNvPr id="18" name="Text 15"/>
          <p:cNvSpPr/>
          <p:nvPr/>
        </p:nvSpPr>
        <p:spPr>
          <a:xfrm>
            <a:off x="6263640" y="4133088"/>
            <a:ext cx="868680" cy="457200"/>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R²</a:t>
            </a:r>
            <a:endParaRPr lang="en-US" sz="1300" dirty="0"/>
          </a:p>
        </p:txBody>
      </p:sp>
      <p:sp>
        <p:nvSpPr>
          <p:cNvPr id="19" name="Text 16"/>
          <p:cNvSpPr/>
          <p:nvPr/>
        </p:nvSpPr>
        <p:spPr>
          <a:xfrm>
            <a:off x="7040880" y="4041648"/>
            <a:ext cx="868680" cy="502920"/>
          </a:xfrm>
          <a:prstGeom prst="rect">
            <a:avLst/>
          </a:prstGeom>
          <a:noFill/>
          <a:ln/>
        </p:spPr>
        <p:txBody>
          <a:bodyPr wrap="square" lIns="0" tIns="0" rIns="0" bIns="0" rtlCol="0" anchor="ctr"/>
          <a:lstStyle/>
          <a:p>
            <a:pPr algn="ctr" indent="0" marL="0">
              <a:buNone/>
            </a:pPr>
            <a:r>
              <a:rPr lang="en-US" sz="2600" b="1" dirty="0">
                <a:solidFill>
                  <a:srgbClr val="1E293B"/>
                </a:solidFill>
                <a:latin typeface="Cambria" pitchFamily="34" charset="0"/>
                <a:ea typeface="Cambria" pitchFamily="34" charset="-122"/>
                <a:cs typeface="Cambria" pitchFamily="34" charset="-120"/>
              </a:rPr>
              <a:t>0.86</a:t>
            </a:r>
            <a:endParaRPr lang="en-US" sz="2600" dirty="0"/>
          </a:p>
        </p:txBody>
      </p:sp>
      <p:sp>
        <p:nvSpPr>
          <p:cNvPr id="20" name="Text 17"/>
          <p:cNvSpPr/>
          <p:nvPr/>
        </p:nvSpPr>
        <p:spPr>
          <a:xfrm>
            <a:off x="7818120" y="4142232"/>
            <a:ext cx="731520" cy="457200"/>
          </a:xfrm>
          <a:prstGeom prst="rect">
            <a:avLst/>
          </a:prstGeom>
          <a:noFill/>
          <a:ln/>
        </p:spPr>
        <p:txBody>
          <a:bodyPr wrap="square" lIns="0" tIns="0" rIns="0" bIns="0" rtlCol="0" anchor="ctr"/>
          <a:lstStyle/>
          <a:p>
            <a:pPr indent="0" marL="0">
              <a:buNone/>
            </a:pPr>
            <a:r>
              <a:rPr lang="en-US" sz="880" dirty="0">
                <a:solidFill>
                  <a:srgbClr val="64748B"/>
                </a:solidFill>
                <a:latin typeface="Calibri" pitchFamily="34" charset="0"/>
                <a:ea typeface="Calibri" pitchFamily="34" charset="-122"/>
                <a:cs typeface="Calibri" pitchFamily="34" charset="-120"/>
              </a:rPr>
              <a:t>variance explained</a:t>
            </a:r>
            <a:endParaRPr lang="en-US" sz="8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DF9"/>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lIns="0" tIns="0" rIns="0" bIns="0" rtlCol="0" anchor="ctr"/>
          <a:lstStyle/>
          <a:p>
            <a:pPr indent="0" marL="0">
              <a:buNone/>
            </a:pPr>
            <a:r>
              <a:rPr lang="en-US" sz="3400" b="1" dirty="0">
                <a:solidFill>
                  <a:srgbClr val="0F5132"/>
                </a:solidFill>
                <a:latin typeface="Cambria" pitchFamily="34" charset="0"/>
                <a:ea typeface="Cambria" pitchFamily="34" charset="-122"/>
                <a:cs typeface="Cambria" pitchFamily="34" charset="-120"/>
              </a:rPr>
              <a:t>The Decision Engine</a:t>
            </a:r>
            <a:endParaRPr lang="en-US" sz="3400" dirty="0"/>
          </a:p>
        </p:txBody>
      </p:sp>
      <p:sp>
        <p:nvSpPr>
          <p:cNvPr id="3" name="Text 1"/>
          <p:cNvSpPr/>
          <p:nvPr/>
        </p:nvSpPr>
        <p:spPr>
          <a:xfrm>
            <a:off x="548640" y="1024128"/>
            <a:ext cx="8229600" cy="36576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A forecast is only useful if it becomes an action. Simple, explainable rules do that.</a:t>
            </a:r>
            <a:endParaRPr lang="en-US" sz="1350" dirty="0"/>
          </a:p>
        </p:txBody>
      </p:sp>
      <p:sp>
        <p:nvSpPr>
          <p:cNvPr id="4" name="Shape 2"/>
          <p:cNvSpPr/>
          <p:nvPr/>
        </p:nvSpPr>
        <p:spPr>
          <a:xfrm>
            <a:off x="548640" y="1508760"/>
            <a:ext cx="8046720" cy="594360"/>
          </a:xfrm>
          <a:prstGeom prst="roundRect">
            <a:avLst>
              <a:gd name="adj" fmla="val 12308"/>
            </a:avLst>
          </a:prstGeom>
          <a:solidFill>
            <a:srgbClr val="0F5132"/>
          </a:solidFill>
          <a:ln/>
        </p:spPr>
      </p:sp>
      <p:sp>
        <p:nvSpPr>
          <p:cNvPr id="5" name="Text 3"/>
          <p:cNvSpPr/>
          <p:nvPr/>
        </p:nvSpPr>
        <p:spPr>
          <a:xfrm>
            <a:off x="731520" y="1508760"/>
            <a:ext cx="7680960" cy="594360"/>
          </a:xfrm>
          <a:prstGeom prst="rect">
            <a:avLst/>
          </a:prstGeom>
          <a:noFill/>
          <a:ln/>
        </p:spPr>
        <p:txBody>
          <a:bodyPr wrap="square" lIns="0" tIns="0" rIns="0" bIns="0" rtlCol="0" anchor="ctr"/>
          <a:lstStyle/>
          <a:p>
            <a:pPr indent="0" marL="0">
              <a:buNone/>
            </a:pPr>
            <a:r>
              <a:rPr lang="en-US" sz="1600" b="1" dirty="0">
                <a:solidFill>
                  <a:srgbClr val="D1FAE5"/>
                </a:solidFill>
                <a:latin typeface="Calibri" pitchFamily="34" charset="0"/>
                <a:ea typeface="Calibri" pitchFamily="34" charset="-122"/>
                <a:cs typeface="Calibri" pitchFamily="34" charset="-120"/>
              </a:rPr>
              <a:t>Reorder need  =  </a:t>
            </a:r>
            <a:pPr indent="0" marL="0">
              <a:buNone/>
            </a:pPr>
            <a:r>
              <a:rPr lang="en-US" sz="1600" b="1" dirty="0">
                <a:solidFill>
                  <a:srgbClr val="F59E0B"/>
                </a:solidFill>
                <a:latin typeface="Calibri" pitchFamily="34" charset="0"/>
                <a:ea typeface="Calibri" pitchFamily="34" charset="-122"/>
                <a:cs typeface="Calibri" pitchFamily="34" charset="-120"/>
              </a:rPr>
              <a:t>Forecast(7 days)  +  Safety stock  −  Current stock</a:t>
            </a:r>
            <a:endParaRPr lang="en-US" sz="1600" dirty="0"/>
          </a:p>
        </p:txBody>
      </p:sp>
      <p:sp>
        <p:nvSpPr>
          <p:cNvPr id="6" name="Shape 4"/>
          <p:cNvSpPr/>
          <p:nvPr/>
        </p:nvSpPr>
        <p:spPr>
          <a:xfrm>
            <a:off x="548640" y="2331720"/>
            <a:ext cx="2542032" cy="2057400"/>
          </a:xfrm>
          <a:prstGeom prst="roundRect">
            <a:avLst>
              <a:gd name="adj" fmla="val 4000"/>
            </a:avLst>
          </a:prstGeom>
          <a:solidFill>
            <a:srgbClr val="FFFFFF"/>
          </a:solidFill>
          <a:ln/>
          <a:effectLst>
            <a:outerShdw sx="100000" sy="100000" kx="0" ky="0" algn="bl" rotWithShape="0" blurRad="88900" dist="38100" dir="5400000">
              <a:srgbClr val="000000">
                <a:alpha val="12000"/>
              </a:srgbClr>
            </a:outerShdw>
          </a:effectLst>
        </p:spPr>
      </p:sp>
      <p:sp>
        <p:nvSpPr>
          <p:cNvPr id="7" name="Shape 5"/>
          <p:cNvSpPr/>
          <p:nvPr/>
        </p:nvSpPr>
        <p:spPr>
          <a:xfrm>
            <a:off x="1499616" y="2542032"/>
            <a:ext cx="640080" cy="640080"/>
          </a:xfrm>
          <a:prstGeom prst="ellipse">
            <a:avLst/>
          </a:prstGeom>
          <a:solidFill>
            <a:srgbClr val="157347"/>
          </a:solidFill>
          <a:ln/>
          <a:effectLst>
            <a:outerShdw sx="100000" sy="100000" kx="0" ky="0" algn="bl" rotWithShape="0" blurRad="88900" dist="38100" dir="5400000">
              <a:srgbClr val="000000">
                <a:alpha val="12000"/>
              </a:srgbClr>
            </a:outerShdw>
          </a:effectLst>
        </p:spPr>
      </p:sp>
      <p:pic>
        <p:nvPicPr>
          <p:cNvPr id="8" name="Image 0" descr="preencoded.png">    </p:cNvPr>
          <p:cNvPicPr>
            <a:picLocks noChangeAspect="1"/>
          </p:cNvPicPr>
          <p:nvPr/>
        </p:nvPicPr>
        <p:blipFill>
          <a:blip r:embed="rId1"/>
          <a:stretch>
            <a:fillRect/>
          </a:stretch>
        </p:blipFill>
        <p:spPr>
          <a:xfrm>
            <a:off x="1666037" y="2708453"/>
            <a:ext cx="307238" cy="307238"/>
          </a:xfrm>
          <a:prstGeom prst="rect">
            <a:avLst/>
          </a:prstGeom>
        </p:spPr>
      </p:pic>
      <p:sp>
        <p:nvSpPr>
          <p:cNvPr id="9" name="Text 6"/>
          <p:cNvSpPr/>
          <p:nvPr/>
        </p:nvSpPr>
        <p:spPr>
          <a:xfrm>
            <a:off x="548640" y="3310128"/>
            <a:ext cx="2542032" cy="365760"/>
          </a:xfrm>
          <a:prstGeom prst="rect">
            <a:avLst/>
          </a:prstGeom>
          <a:noFill/>
          <a:ln/>
        </p:spPr>
        <p:txBody>
          <a:bodyPr wrap="square" lIns="0" tIns="0" rIns="0" bIns="0" rtlCol="0" anchor="ctr"/>
          <a:lstStyle/>
          <a:p>
            <a:pPr algn="ctr" indent="0" marL="0">
              <a:buNone/>
            </a:pPr>
            <a:r>
              <a:rPr lang="en-US" sz="1900" b="1" dirty="0">
                <a:solidFill>
                  <a:srgbClr val="157347"/>
                </a:solidFill>
                <a:latin typeface="Cambria" pitchFamily="34" charset="0"/>
                <a:ea typeface="Cambria" pitchFamily="34" charset="-122"/>
                <a:cs typeface="Cambria" pitchFamily="34" charset="-120"/>
              </a:rPr>
              <a:t>APPROVE</a:t>
            </a:r>
            <a:endParaRPr lang="en-US" sz="1900" dirty="0"/>
          </a:p>
        </p:txBody>
      </p:sp>
      <p:sp>
        <p:nvSpPr>
          <p:cNvPr id="10" name="Text 7"/>
          <p:cNvSpPr/>
          <p:nvPr/>
        </p:nvSpPr>
        <p:spPr>
          <a:xfrm>
            <a:off x="731520" y="3703320"/>
            <a:ext cx="2176272" cy="6400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Stock covers forecast + buffer. No action needed.</a:t>
            </a:r>
            <a:endParaRPr lang="en-US" sz="1100" dirty="0"/>
          </a:p>
        </p:txBody>
      </p:sp>
      <p:sp>
        <p:nvSpPr>
          <p:cNvPr id="11" name="Shape 8"/>
          <p:cNvSpPr/>
          <p:nvPr/>
        </p:nvSpPr>
        <p:spPr>
          <a:xfrm>
            <a:off x="3264408" y="2331720"/>
            <a:ext cx="2542032" cy="2057400"/>
          </a:xfrm>
          <a:prstGeom prst="roundRect">
            <a:avLst>
              <a:gd name="adj" fmla="val 4000"/>
            </a:avLst>
          </a:prstGeom>
          <a:solidFill>
            <a:srgbClr val="FFFFFF"/>
          </a:solidFill>
          <a:ln/>
          <a:effectLst>
            <a:outerShdw sx="100000" sy="100000" kx="0" ky="0" algn="bl" rotWithShape="0" blurRad="88900" dist="38100" dir="5400000">
              <a:srgbClr val="000000">
                <a:alpha val="12000"/>
              </a:srgbClr>
            </a:outerShdw>
          </a:effectLst>
        </p:spPr>
      </p:sp>
      <p:sp>
        <p:nvSpPr>
          <p:cNvPr id="12" name="Shape 9"/>
          <p:cNvSpPr/>
          <p:nvPr/>
        </p:nvSpPr>
        <p:spPr>
          <a:xfrm>
            <a:off x="4215384" y="2542032"/>
            <a:ext cx="640080" cy="640080"/>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13" name="Image 1" descr="preencoded.png">    </p:cNvPr>
          <p:cNvPicPr>
            <a:picLocks noChangeAspect="1"/>
          </p:cNvPicPr>
          <p:nvPr/>
        </p:nvPicPr>
        <p:blipFill>
          <a:blip r:embed="rId2"/>
          <a:stretch>
            <a:fillRect/>
          </a:stretch>
        </p:blipFill>
        <p:spPr>
          <a:xfrm>
            <a:off x="4381805" y="2708453"/>
            <a:ext cx="307238" cy="307238"/>
          </a:xfrm>
          <a:prstGeom prst="rect">
            <a:avLst/>
          </a:prstGeom>
        </p:spPr>
      </p:pic>
      <p:sp>
        <p:nvSpPr>
          <p:cNvPr id="14" name="Text 10"/>
          <p:cNvSpPr/>
          <p:nvPr/>
        </p:nvSpPr>
        <p:spPr>
          <a:xfrm>
            <a:off x="3264408" y="3310128"/>
            <a:ext cx="2542032" cy="365760"/>
          </a:xfrm>
          <a:prstGeom prst="rect">
            <a:avLst/>
          </a:prstGeom>
          <a:noFill/>
          <a:ln/>
        </p:spPr>
        <p:txBody>
          <a:bodyPr wrap="square" lIns="0" tIns="0" rIns="0" bIns="0" rtlCol="0" anchor="ctr"/>
          <a:lstStyle/>
          <a:p>
            <a:pPr algn="ctr" indent="0" marL="0">
              <a:buNone/>
            </a:pPr>
            <a:r>
              <a:rPr lang="en-US" sz="1900" b="1" dirty="0">
                <a:solidFill>
                  <a:srgbClr val="14B8A6"/>
                </a:solidFill>
                <a:latin typeface="Cambria" pitchFamily="34" charset="0"/>
                <a:ea typeface="Cambria" pitchFamily="34" charset="-122"/>
                <a:cs typeface="Cambria" pitchFamily="34" charset="-120"/>
              </a:rPr>
              <a:t>REORDER</a:t>
            </a:r>
            <a:endParaRPr lang="en-US" sz="1900" dirty="0"/>
          </a:p>
        </p:txBody>
      </p:sp>
      <p:sp>
        <p:nvSpPr>
          <p:cNvPr id="15" name="Text 11"/>
          <p:cNvSpPr/>
          <p:nvPr/>
        </p:nvSpPr>
        <p:spPr>
          <a:xfrm>
            <a:off x="3447288" y="3703320"/>
            <a:ext cx="2176272" cy="6400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Need &gt; 0. Auto-suggest quantity to the manager.</a:t>
            </a:r>
            <a:endParaRPr lang="en-US" sz="1100" dirty="0"/>
          </a:p>
        </p:txBody>
      </p:sp>
      <p:sp>
        <p:nvSpPr>
          <p:cNvPr id="16" name="Shape 12"/>
          <p:cNvSpPr/>
          <p:nvPr/>
        </p:nvSpPr>
        <p:spPr>
          <a:xfrm>
            <a:off x="5980176" y="2331720"/>
            <a:ext cx="2542032" cy="2057400"/>
          </a:xfrm>
          <a:prstGeom prst="roundRect">
            <a:avLst>
              <a:gd name="adj" fmla="val 4000"/>
            </a:avLst>
          </a:prstGeom>
          <a:solidFill>
            <a:srgbClr val="FFFFFF"/>
          </a:solidFill>
          <a:ln/>
          <a:effectLst>
            <a:outerShdw sx="100000" sy="100000" kx="0" ky="0" algn="bl" rotWithShape="0" blurRad="88900" dist="38100" dir="5400000">
              <a:srgbClr val="000000">
                <a:alpha val="12000"/>
              </a:srgbClr>
            </a:outerShdw>
          </a:effectLst>
        </p:spPr>
      </p:sp>
      <p:sp>
        <p:nvSpPr>
          <p:cNvPr id="17" name="Shape 13"/>
          <p:cNvSpPr/>
          <p:nvPr/>
        </p:nvSpPr>
        <p:spPr>
          <a:xfrm>
            <a:off x="6931152" y="2542032"/>
            <a:ext cx="640080" cy="640080"/>
          </a:xfrm>
          <a:prstGeom prst="ellipse">
            <a:avLst/>
          </a:prstGeom>
          <a:solidFill>
            <a:srgbClr val="F59E0B"/>
          </a:solidFill>
          <a:ln/>
          <a:effectLst>
            <a:outerShdw sx="100000" sy="100000" kx="0" ky="0" algn="bl" rotWithShape="0" blurRad="88900" dist="38100" dir="5400000">
              <a:srgbClr val="000000">
                <a:alpha val="12000"/>
              </a:srgbClr>
            </a:outerShdw>
          </a:effectLst>
        </p:spPr>
      </p:sp>
      <p:pic>
        <p:nvPicPr>
          <p:cNvPr id="18" name="Image 2" descr="preencoded.png">    </p:cNvPr>
          <p:cNvPicPr>
            <a:picLocks noChangeAspect="1"/>
          </p:cNvPicPr>
          <p:nvPr/>
        </p:nvPicPr>
        <p:blipFill>
          <a:blip r:embed="rId3"/>
          <a:stretch>
            <a:fillRect/>
          </a:stretch>
        </p:blipFill>
        <p:spPr>
          <a:xfrm>
            <a:off x="7097573" y="2708453"/>
            <a:ext cx="307238" cy="307238"/>
          </a:xfrm>
          <a:prstGeom prst="rect">
            <a:avLst/>
          </a:prstGeom>
        </p:spPr>
      </p:pic>
      <p:sp>
        <p:nvSpPr>
          <p:cNvPr id="19" name="Text 14"/>
          <p:cNvSpPr/>
          <p:nvPr/>
        </p:nvSpPr>
        <p:spPr>
          <a:xfrm>
            <a:off x="5980176" y="3310128"/>
            <a:ext cx="2542032" cy="365760"/>
          </a:xfrm>
          <a:prstGeom prst="rect">
            <a:avLst/>
          </a:prstGeom>
          <a:noFill/>
          <a:ln/>
        </p:spPr>
        <p:txBody>
          <a:bodyPr wrap="square" lIns="0" tIns="0" rIns="0" bIns="0" rtlCol="0" anchor="ctr"/>
          <a:lstStyle/>
          <a:p>
            <a:pPr algn="ctr" indent="0" marL="0">
              <a:buNone/>
            </a:pPr>
            <a:r>
              <a:rPr lang="en-US" sz="1900" b="1" dirty="0">
                <a:solidFill>
                  <a:srgbClr val="F59E0B"/>
                </a:solidFill>
                <a:latin typeface="Cambria" pitchFamily="34" charset="0"/>
                <a:ea typeface="Cambria" pitchFamily="34" charset="-122"/>
                <a:cs typeface="Cambria" pitchFamily="34" charset="-120"/>
              </a:rPr>
              <a:t>URGENT</a:t>
            </a:r>
            <a:endParaRPr lang="en-US" sz="1900" dirty="0"/>
          </a:p>
        </p:txBody>
      </p:sp>
      <p:sp>
        <p:nvSpPr>
          <p:cNvPr id="20" name="Text 15"/>
          <p:cNvSpPr/>
          <p:nvPr/>
        </p:nvSpPr>
        <p:spPr>
          <a:xfrm>
            <a:off x="6163056" y="3703320"/>
            <a:ext cx="2176272" cy="6400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Need is high &amp; stock near zero. Flag for same-day delivery.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lIns="0" tIns="0" rIns="0" bIns="0" rtlCol="0" anchor="ctr"/>
          <a:lstStyle/>
          <a:p>
            <a:pPr indent="0" marL="0">
              <a:buNone/>
            </a:pPr>
            <a:r>
              <a:rPr lang="en-US" sz="2800" b="1" dirty="0">
                <a:solidFill>
                  <a:srgbClr val="0F5132"/>
                </a:solidFill>
                <a:latin typeface="Cambria" pitchFamily="34" charset="0"/>
                <a:ea typeface="Cambria" pitchFamily="34" charset="-122"/>
                <a:cs typeface="Cambria" pitchFamily="34" charset="-120"/>
              </a:rPr>
              <a:t>Live Dashboard — What the Manager Sees</a:t>
            </a:r>
            <a:endParaRPr lang="en-US" sz="2800" dirty="0"/>
          </a:p>
        </p:txBody>
      </p:sp>
      <p:sp>
        <p:nvSpPr>
          <p:cNvPr id="3" name="Text 1"/>
          <p:cNvSpPr/>
          <p:nvPr/>
        </p:nvSpPr>
        <p:spPr>
          <a:xfrm>
            <a:off x="548640" y="1005840"/>
            <a:ext cx="82296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A Streamlit app turns the model into a tool a store manager actually uses every morning.</a:t>
            </a:r>
            <a:endParaRPr lang="en-US" sz="1300" dirty="0"/>
          </a:p>
        </p:txBody>
      </p:sp>
      <p:sp>
        <p:nvSpPr>
          <p:cNvPr id="4" name="Shape 2"/>
          <p:cNvSpPr/>
          <p:nvPr/>
        </p:nvSpPr>
        <p:spPr>
          <a:xfrm>
            <a:off x="548640" y="1508760"/>
            <a:ext cx="5120640" cy="2971800"/>
          </a:xfrm>
          <a:prstGeom prst="roundRect">
            <a:avLst>
              <a:gd name="adj" fmla="val 1846"/>
            </a:avLst>
          </a:prstGeom>
          <a:solidFill>
            <a:srgbClr val="F6FBF8"/>
          </a:solidFill>
          <a:ln w="12700">
            <a:solidFill>
              <a:srgbClr val="D1FAE5"/>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548640" y="1508760"/>
            <a:ext cx="5120640" cy="384048"/>
          </a:xfrm>
          <a:prstGeom prst="rect">
            <a:avLst/>
          </a:prstGeom>
          <a:solidFill>
            <a:srgbClr val="0F5132"/>
          </a:solidFill>
          <a:ln/>
        </p:spPr>
      </p:sp>
      <p:sp>
        <p:nvSpPr>
          <p:cNvPr id="6" name="Shape 4"/>
          <p:cNvSpPr/>
          <p:nvPr/>
        </p:nvSpPr>
        <p:spPr>
          <a:xfrm>
            <a:off x="694944" y="1636776"/>
            <a:ext cx="128016" cy="128016"/>
          </a:xfrm>
          <a:prstGeom prst="ellipse">
            <a:avLst/>
          </a:prstGeom>
          <a:solidFill>
            <a:srgbClr val="F59E0B"/>
          </a:solidFill>
          <a:ln/>
        </p:spPr>
      </p:sp>
      <p:sp>
        <p:nvSpPr>
          <p:cNvPr id="7" name="Shape 5"/>
          <p:cNvSpPr/>
          <p:nvPr/>
        </p:nvSpPr>
        <p:spPr>
          <a:xfrm>
            <a:off x="877824" y="1636776"/>
            <a:ext cx="128016" cy="128016"/>
          </a:xfrm>
          <a:prstGeom prst="ellipse">
            <a:avLst/>
          </a:prstGeom>
          <a:solidFill>
            <a:srgbClr val="2DD4BF"/>
          </a:solidFill>
          <a:ln/>
        </p:spPr>
      </p:sp>
      <p:sp>
        <p:nvSpPr>
          <p:cNvPr id="8" name="Text 6"/>
          <p:cNvSpPr/>
          <p:nvPr/>
        </p:nvSpPr>
        <p:spPr>
          <a:xfrm>
            <a:off x="1097280" y="1545336"/>
            <a:ext cx="365760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StockWise AI  ·  GreenCart UAE</a:t>
            </a:r>
            <a:endParaRPr lang="en-US" sz="1100" dirty="0"/>
          </a:p>
        </p:txBody>
      </p:sp>
      <p:sp>
        <p:nvSpPr>
          <p:cNvPr id="9" name="Shape 7"/>
          <p:cNvSpPr/>
          <p:nvPr/>
        </p:nvSpPr>
        <p:spPr>
          <a:xfrm>
            <a:off x="731520" y="2057400"/>
            <a:ext cx="1481328" cy="640080"/>
          </a:xfrm>
          <a:prstGeom prst="roundRect">
            <a:avLst>
              <a:gd name="adj" fmla="val 8571"/>
            </a:avLst>
          </a:prstGeom>
          <a:solidFill>
            <a:srgbClr val="FFFFFF"/>
          </a:solidFill>
          <a:ln w="12700">
            <a:solidFill>
              <a:srgbClr val="D1FAE5"/>
            </a:solidFill>
            <a:prstDash val="solid"/>
          </a:ln>
        </p:spPr>
      </p:sp>
      <p:sp>
        <p:nvSpPr>
          <p:cNvPr id="10" name="Text 8"/>
          <p:cNvSpPr/>
          <p:nvPr/>
        </p:nvSpPr>
        <p:spPr>
          <a:xfrm>
            <a:off x="731520" y="2112264"/>
            <a:ext cx="1481328" cy="365760"/>
          </a:xfrm>
          <a:prstGeom prst="rect">
            <a:avLst/>
          </a:prstGeom>
          <a:noFill/>
          <a:ln/>
        </p:spPr>
        <p:txBody>
          <a:bodyPr wrap="square" lIns="0" tIns="0" rIns="0" bIns="0" rtlCol="0" anchor="ctr"/>
          <a:lstStyle/>
          <a:p>
            <a:pPr algn="ctr" indent="0" marL="0">
              <a:buNone/>
            </a:pPr>
            <a:r>
              <a:rPr lang="en-US" sz="2000" b="1" dirty="0">
                <a:solidFill>
                  <a:srgbClr val="0F5132"/>
                </a:solidFill>
                <a:latin typeface="Cambria" pitchFamily="34" charset="0"/>
                <a:ea typeface="Cambria" pitchFamily="34" charset="-122"/>
                <a:cs typeface="Cambria" pitchFamily="34" charset="-120"/>
              </a:rPr>
              <a:t>4.7%</a:t>
            </a:r>
            <a:endParaRPr lang="en-US" sz="2000" dirty="0"/>
          </a:p>
        </p:txBody>
      </p:sp>
      <p:sp>
        <p:nvSpPr>
          <p:cNvPr id="11" name="Text 9"/>
          <p:cNvSpPr/>
          <p:nvPr/>
        </p:nvSpPr>
        <p:spPr>
          <a:xfrm>
            <a:off x="731520" y="2459736"/>
            <a:ext cx="1481328" cy="20116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MAPE</a:t>
            </a:r>
            <a:endParaRPr lang="en-US" sz="900" dirty="0"/>
          </a:p>
        </p:txBody>
      </p:sp>
      <p:sp>
        <p:nvSpPr>
          <p:cNvPr id="12" name="Shape 10"/>
          <p:cNvSpPr/>
          <p:nvPr/>
        </p:nvSpPr>
        <p:spPr>
          <a:xfrm>
            <a:off x="2359152" y="2057400"/>
            <a:ext cx="1481328" cy="640080"/>
          </a:xfrm>
          <a:prstGeom prst="roundRect">
            <a:avLst>
              <a:gd name="adj" fmla="val 8571"/>
            </a:avLst>
          </a:prstGeom>
          <a:solidFill>
            <a:srgbClr val="FFFFFF"/>
          </a:solidFill>
          <a:ln w="12700">
            <a:solidFill>
              <a:srgbClr val="D1FAE5"/>
            </a:solidFill>
            <a:prstDash val="solid"/>
          </a:ln>
        </p:spPr>
      </p:sp>
      <p:sp>
        <p:nvSpPr>
          <p:cNvPr id="13" name="Text 11"/>
          <p:cNvSpPr/>
          <p:nvPr/>
        </p:nvSpPr>
        <p:spPr>
          <a:xfrm>
            <a:off x="2359152" y="2112264"/>
            <a:ext cx="1481328" cy="365760"/>
          </a:xfrm>
          <a:prstGeom prst="rect">
            <a:avLst/>
          </a:prstGeom>
          <a:noFill/>
          <a:ln/>
        </p:spPr>
        <p:txBody>
          <a:bodyPr wrap="square" lIns="0" tIns="0" rIns="0" bIns="0" rtlCol="0" anchor="ctr"/>
          <a:lstStyle/>
          <a:p>
            <a:pPr algn="ctr" indent="0" marL="0">
              <a:buNone/>
            </a:pPr>
            <a:r>
              <a:rPr lang="en-US" sz="2000" b="1" dirty="0">
                <a:solidFill>
                  <a:srgbClr val="0F5132"/>
                </a:solidFill>
                <a:latin typeface="Cambria" pitchFamily="34" charset="0"/>
                <a:ea typeface="Cambria" pitchFamily="34" charset="-122"/>
                <a:cs typeface="Cambria" pitchFamily="34" charset="-120"/>
              </a:rPr>
              <a:t>6.3</a:t>
            </a:r>
            <a:endParaRPr lang="en-US" sz="2000" dirty="0"/>
          </a:p>
        </p:txBody>
      </p:sp>
      <p:sp>
        <p:nvSpPr>
          <p:cNvPr id="14" name="Text 12"/>
          <p:cNvSpPr/>
          <p:nvPr/>
        </p:nvSpPr>
        <p:spPr>
          <a:xfrm>
            <a:off x="2359152" y="2459736"/>
            <a:ext cx="1481328" cy="20116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MAE</a:t>
            </a:r>
            <a:endParaRPr lang="en-US" sz="900" dirty="0"/>
          </a:p>
        </p:txBody>
      </p:sp>
      <p:sp>
        <p:nvSpPr>
          <p:cNvPr id="15" name="Shape 13"/>
          <p:cNvSpPr/>
          <p:nvPr/>
        </p:nvSpPr>
        <p:spPr>
          <a:xfrm>
            <a:off x="3986784" y="2057400"/>
            <a:ext cx="1481328" cy="640080"/>
          </a:xfrm>
          <a:prstGeom prst="roundRect">
            <a:avLst>
              <a:gd name="adj" fmla="val 8571"/>
            </a:avLst>
          </a:prstGeom>
          <a:solidFill>
            <a:srgbClr val="FFFFFF"/>
          </a:solidFill>
          <a:ln w="12700">
            <a:solidFill>
              <a:srgbClr val="D1FAE5"/>
            </a:solidFill>
            <a:prstDash val="solid"/>
          </a:ln>
        </p:spPr>
      </p:sp>
      <p:sp>
        <p:nvSpPr>
          <p:cNvPr id="16" name="Text 14"/>
          <p:cNvSpPr/>
          <p:nvPr/>
        </p:nvSpPr>
        <p:spPr>
          <a:xfrm>
            <a:off x="3986784" y="2112264"/>
            <a:ext cx="1481328" cy="365760"/>
          </a:xfrm>
          <a:prstGeom prst="rect">
            <a:avLst/>
          </a:prstGeom>
          <a:noFill/>
          <a:ln/>
        </p:spPr>
        <p:txBody>
          <a:bodyPr wrap="square" lIns="0" tIns="0" rIns="0" bIns="0" rtlCol="0" anchor="ctr"/>
          <a:lstStyle/>
          <a:p>
            <a:pPr algn="ctr" indent="0" marL="0">
              <a:buNone/>
            </a:pPr>
            <a:r>
              <a:rPr lang="en-US" sz="2000" b="1" dirty="0">
                <a:solidFill>
                  <a:srgbClr val="0F5132"/>
                </a:solidFill>
                <a:latin typeface="Cambria" pitchFamily="34" charset="0"/>
                <a:ea typeface="Cambria" pitchFamily="34" charset="-122"/>
                <a:cs typeface="Cambria" pitchFamily="34" charset="-120"/>
              </a:rPr>
              <a:t>0.86</a:t>
            </a:r>
            <a:endParaRPr lang="en-US" sz="2000" dirty="0"/>
          </a:p>
        </p:txBody>
      </p:sp>
      <p:sp>
        <p:nvSpPr>
          <p:cNvPr id="17" name="Text 15"/>
          <p:cNvSpPr/>
          <p:nvPr/>
        </p:nvSpPr>
        <p:spPr>
          <a:xfrm>
            <a:off x="3986784" y="2459736"/>
            <a:ext cx="1481328" cy="20116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R²</a:t>
            </a:r>
            <a:endParaRPr lang="en-US" sz="900" dirty="0"/>
          </a:p>
        </p:txBody>
      </p:sp>
      <p:graphicFrame>
        <p:nvGraphicFramePr>
          <p:cNvPr id="18" name="Chart 0" descr=""/>
          <p:cNvGraphicFramePr/>
          <p:nvPr/>
        </p:nvGraphicFramePr>
        <p:xfrm>
          <a:off x="713232" y="2807208"/>
          <a:ext cx="4754880" cy="960120"/>
        </p:xfrm>
        <a:graphic xmlns:a="http://schemas.openxmlformats.org/drawingml/2006/main">
          <a:graphicData uri="http://schemas.openxmlformats.org/drawingml/2006/chart">
            <c:chart xmlns:c="http://schemas.openxmlformats.org/drawingml/2006/chart" r:id="rId1"/>
          </a:graphicData>
        </a:graphic>
      </p:graphicFrame>
      <p:sp>
        <p:nvSpPr>
          <p:cNvPr id="19" name="Shape 16"/>
          <p:cNvSpPr/>
          <p:nvPr/>
        </p:nvSpPr>
        <p:spPr>
          <a:xfrm>
            <a:off x="713232" y="3840480"/>
            <a:ext cx="4791456" cy="502920"/>
          </a:xfrm>
          <a:prstGeom prst="roundRect">
            <a:avLst>
              <a:gd name="adj" fmla="val 10909"/>
            </a:avLst>
          </a:prstGeom>
          <a:solidFill>
            <a:srgbClr val="14B8A6"/>
          </a:solidFill>
          <a:ln/>
        </p:spPr>
      </p:sp>
      <p:sp>
        <p:nvSpPr>
          <p:cNvPr id="20" name="Text 17"/>
          <p:cNvSpPr/>
          <p:nvPr/>
        </p:nvSpPr>
        <p:spPr>
          <a:xfrm>
            <a:off x="868680" y="3840480"/>
            <a:ext cx="457200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VERDICT:  REORDER   </a:t>
            </a:r>
            <a:pPr indent="0" marL="0">
              <a:buNone/>
            </a:pPr>
            <a:r>
              <a:rPr lang="en-US" sz="1400" dirty="0">
                <a:solidFill>
                  <a:srgbClr val="EAFBF4"/>
                </a:solidFill>
                <a:latin typeface="Calibri" pitchFamily="34" charset="0"/>
                <a:ea typeface="Calibri" pitchFamily="34" charset="-122"/>
                <a:cs typeface="Calibri" pitchFamily="34" charset="-120"/>
              </a:rPr>
              <a:t>→ suggest 454 units</a:t>
            </a:r>
            <a:endParaRPr lang="en-US" sz="1400" dirty="0"/>
          </a:p>
        </p:txBody>
      </p:sp>
      <p:sp>
        <p:nvSpPr>
          <p:cNvPr id="21" name="Text 18"/>
          <p:cNvSpPr/>
          <p:nvPr/>
        </p:nvSpPr>
        <p:spPr>
          <a:xfrm>
            <a:off x="5943600" y="1600200"/>
            <a:ext cx="2743200" cy="320040"/>
          </a:xfrm>
          <a:prstGeom prst="rect">
            <a:avLst/>
          </a:prstGeom>
          <a:noFill/>
          <a:ln/>
        </p:spPr>
        <p:txBody>
          <a:bodyPr wrap="square" lIns="0" tIns="0" rIns="0" bIns="0" rtlCol="0" anchor="ctr"/>
          <a:lstStyle/>
          <a:p>
            <a:pPr indent="0" marL="0">
              <a:buNone/>
            </a:pPr>
            <a:r>
              <a:rPr lang="en-US" sz="1400" b="1" dirty="0">
                <a:solidFill>
                  <a:srgbClr val="0F5132"/>
                </a:solidFill>
                <a:latin typeface="Calibri" pitchFamily="34" charset="0"/>
                <a:ea typeface="Calibri" pitchFamily="34" charset="-122"/>
                <a:cs typeface="Calibri" pitchFamily="34" charset="-120"/>
              </a:rPr>
              <a:t>In the dashboard you can:</a:t>
            </a:r>
            <a:endParaRPr lang="en-US" sz="1400" dirty="0"/>
          </a:p>
        </p:txBody>
      </p:sp>
      <p:sp>
        <p:nvSpPr>
          <p:cNvPr id="22" name="Text 19"/>
          <p:cNvSpPr/>
          <p:nvPr/>
        </p:nvSpPr>
        <p:spPr>
          <a:xfrm>
            <a:off x="5989320" y="2011680"/>
            <a:ext cx="2697480" cy="2377440"/>
          </a:xfrm>
          <a:prstGeom prst="rect">
            <a:avLst/>
          </a:prstGeom>
          <a:noFill/>
          <a:ln/>
        </p:spPr>
        <p:txBody>
          <a:bodyPr wrap="square" lIns="0" tIns="0" rIns="0" bIns="0" rtlCol="0" anchor="ctr"/>
          <a:lstStyle/>
          <a:p>
            <a:pPr marL="342900" indent="-342900">
              <a:spcAft>
                <a:spcPts val="1100"/>
              </a:spcAft>
              <a:buSzPct val="100000"/>
              <a:buChar char="✓"/>
            </a:pPr>
            <a:r>
              <a:rPr lang="en-US" sz="1200" dirty="0">
                <a:solidFill>
                  <a:srgbClr val="1E293B"/>
                </a:solidFill>
                <a:latin typeface="Calibri" pitchFamily="34" charset="0"/>
                <a:ea typeface="Calibri" pitchFamily="34" charset="-122"/>
                <a:cs typeface="Calibri" pitchFamily="34" charset="-120"/>
              </a:rPr>
              <a:t>Pick any product &amp; store</a:t>
            </a:r>
            <a:endParaRPr lang="en-US" sz="1200" dirty="0"/>
          </a:p>
          <a:p>
            <a:pPr marL="342900" indent="-342900">
              <a:spcAft>
                <a:spcPts val="1100"/>
              </a:spcAft>
              <a:buSzPct val="100000"/>
              <a:buChar char="✓"/>
            </a:pPr>
            <a:r>
              <a:rPr lang="en-US" sz="1200" dirty="0">
                <a:solidFill>
                  <a:srgbClr val="1E293B"/>
                </a:solidFill>
                <a:latin typeface="Calibri" pitchFamily="34" charset="0"/>
                <a:ea typeface="Calibri" pitchFamily="34" charset="-122"/>
                <a:cs typeface="Calibri" pitchFamily="34" charset="-120"/>
              </a:rPr>
              <a:t>See the next-7-day forecast vs actuals</a:t>
            </a:r>
            <a:endParaRPr lang="en-US" sz="1200" dirty="0"/>
          </a:p>
          <a:p>
            <a:pPr marL="342900" indent="-342900">
              <a:spcAft>
                <a:spcPts val="1100"/>
              </a:spcAft>
              <a:buSzPct val="100000"/>
              <a:buChar char="✓"/>
            </a:pPr>
            <a:r>
              <a:rPr lang="en-US" sz="1200" dirty="0">
                <a:solidFill>
                  <a:srgbClr val="1E293B"/>
                </a:solidFill>
                <a:latin typeface="Calibri" pitchFamily="34" charset="0"/>
                <a:ea typeface="Calibri" pitchFamily="34" charset="-122"/>
                <a:cs typeface="Calibri" pitchFamily="34" charset="-120"/>
              </a:rPr>
              <a:t>Get an instant Approve / Reorder / Urgent verdict</a:t>
            </a:r>
            <a:endParaRPr lang="en-US" sz="1200" dirty="0"/>
          </a:p>
          <a:p>
            <a:pPr marL="342900" indent="-342900">
              <a:spcAft>
                <a:spcPts val="1100"/>
              </a:spcAft>
              <a:buSzPct val="100000"/>
              <a:buChar char="✓"/>
            </a:pPr>
            <a:r>
              <a:rPr lang="en-US" sz="1200" dirty="0">
                <a:solidFill>
                  <a:srgbClr val="1E293B"/>
                </a:solidFill>
                <a:latin typeface="Calibri" pitchFamily="34" charset="0"/>
                <a:ea typeface="Calibri" pitchFamily="34" charset="-122"/>
                <a:cs typeface="Calibri" pitchFamily="34" charset="-120"/>
              </a:rPr>
              <a:t>Drag sliders for stock &amp; safety buffer — verdict updates live</a:t>
            </a:r>
            <a:endParaRPr lang="en-US" sz="1200" dirty="0"/>
          </a:p>
          <a:p>
            <a:pPr marL="342900" indent="-342900">
              <a:spcAft>
                <a:spcPts val="1100"/>
              </a:spcAft>
              <a:buSzPct val="100000"/>
              <a:buChar char="✓"/>
            </a:pPr>
            <a:r>
              <a:rPr lang="en-US" sz="1200" dirty="0">
                <a:solidFill>
                  <a:srgbClr val="1E293B"/>
                </a:solidFill>
                <a:latin typeface="Calibri" pitchFamily="34" charset="0"/>
                <a:ea typeface="Calibri" pitchFamily="34" charset="-122"/>
                <a:cs typeface="Calibri" pitchFamily="34" charset="-120"/>
              </a:rPr>
              <a:t>Read why each event spikes demand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5132"/>
        </a:solidFill>
      </p:bgPr>
    </p:bg>
    <p:spTree>
      <p:nvGrpSpPr>
        <p:cNvPr id="1" name=""/>
        <p:cNvGrpSpPr/>
        <p:nvPr/>
      </p:nvGrpSpPr>
      <p:grpSpPr>
        <a:xfrm>
          <a:off x="0" y="0"/>
          <a:ext cx="0" cy="0"/>
          <a:chOff x="0" y="0"/>
          <a:chExt cx="0" cy="0"/>
        </a:xfrm>
      </p:grpSpPr>
      <p:sp>
        <p:nvSpPr>
          <p:cNvPr id="2" name="Shape 0"/>
          <p:cNvSpPr/>
          <p:nvPr/>
        </p:nvSpPr>
        <p:spPr>
          <a:xfrm>
            <a:off x="7863840" y="-914400"/>
            <a:ext cx="2560320" cy="2560320"/>
          </a:xfrm>
          <a:prstGeom prst="ellipse">
            <a:avLst/>
          </a:prstGeom>
          <a:solidFill>
            <a:srgbClr val="157347"/>
          </a:solidFill>
          <a:ln/>
        </p:spPr>
      </p:sp>
      <p:sp>
        <p:nvSpPr>
          <p:cNvPr id="3" name="Text 1"/>
          <p:cNvSpPr/>
          <p:nvPr/>
        </p:nvSpPr>
        <p:spPr>
          <a:xfrm>
            <a:off x="548640" y="457200"/>
            <a:ext cx="82296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Business Impact &amp; ROI</a:t>
            </a:r>
            <a:endParaRPr lang="en-US" sz="3400" dirty="0"/>
          </a:p>
        </p:txBody>
      </p:sp>
      <p:sp>
        <p:nvSpPr>
          <p:cNvPr id="4" name="Text 2"/>
          <p:cNvSpPr/>
          <p:nvPr/>
        </p:nvSpPr>
        <p:spPr>
          <a:xfrm>
            <a:off x="548640" y="1078992"/>
            <a:ext cx="8229600" cy="365760"/>
          </a:xfrm>
          <a:prstGeom prst="rect">
            <a:avLst/>
          </a:prstGeom>
          <a:noFill/>
          <a:ln/>
        </p:spPr>
        <p:txBody>
          <a:bodyPr wrap="square" lIns="0" tIns="0" rIns="0" bIns="0" rtlCol="0" anchor="ctr"/>
          <a:lstStyle/>
          <a:p>
            <a:pPr indent="0" marL="0">
              <a:buNone/>
            </a:pPr>
            <a:r>
              <a:rPr lang="en-US" sz="1400" i="1" dirty="0">
                <a:solidFill>
                  <a:srgbClr val="D1FAE5"/>
                </a:solidFill>
                <a:latin typeface="Calibri" pitchFamily="34" charset="0"/>
                <a:ea typeface="Calibri" pitchFamily="34" charset="-122"/>
                <a:cs typeface="Calibri" pitchFamily="34" charset="-120"/>
              </a:rPr>
              <a:t>What a sub-5% forecasting error means for a mid-size UAE grocery chain.</a:t>
            </a:r>
            <a:endParaRPr lang="en-US" sz="1400" dirty="0"/>
          </a:p>
        </p:txBody>
      </p:sp>
      <p:sp>
        <p:nvSpPr>
          <p:cNvPr id="5" name="Shape 3"/>
          <p:cNvSpPr/>
          <p:nvPr/>
        </p:nvSpPr>
        <p:spPr>
          <a:xfrm>
            <a:off x="548640" y="1691640"/>
            <a:ext cx="1965960" cy="2286000"/>
          </a:xfrm>
          <a:prstGeom prst="roundRect">
            <a:avLst>
              <a:gd name="adj" fmla="val 4651"/>
            </a:avLst>
          </a:prstGeom>
          <a:solidFill>
            <a:srgbClr val="12603C"/>
          </a:solidFill>
          <a:ln/>
          <a:effectLst>
            <a:outerShdw sx="100000" sy="100000" kx="0" ky="0" algn="bl" rotWithShape="0" blurRad="88900" dist="38100" dir="5400000">
              <a:srgbClr val="000000">
                <a:alpha val="12000"/>
              </a:srgbClr>
            </a:outerShdw>
          </a:effectLst>
        </p:spPr>
      </p:sp>
      <p:sp>
        <p:nvSpPr>
          <p:cNvPr id="6" name="Shape 4"/>
          <p:cNvSpPr/>
          <p:nvPr/>
        </p:nvSpPr>
        <p:spPr>
          <a:xfrm>
            <a:off x="1229868" y="1920240"/>
            <a:ext cx="603504" cy="603504"/>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7" name="Image 0" descr="preencoded.png">    </p:cNvPr>
          <p:cNvPicPr>
            <a:picLocks noChangeAspect="1"/>
          </p:cNvPicPr>
          <p:nvPr/>
        </p:nvPicPr>
        <p:blipFill>
          <a:blip r:embed="rId1"/>
          <a:stretch>
            <a:fillRect/>
          </a:stretch>
        </p:blipFill>
        <p:spPr>
          <a:xfrm>
            <a:off x="1386779" y="2077151"/>
            <a:ext cx="289682" cy="289682"/>
          </a:xfrm>
          <a:prstGeom prst="rect">
            <a:avLst/>
          </a:prstGeom>
        </p:spPr>
      </p:pic>
      <p:sp>
        <p:nvSpPr>
          <p:cNvPr id="8" name="Text 5"/>
          <p:cNvSpPr/>
          <p:nvPr/>
        </p:nvSpPr>
        <p:spPr>
          <a:xfrm>
            <a:off x="548640" y="2651760"/>
            <a:ext cx="1965960" cy="548640"/>
          </a:xfrm>
          <a:prstGeom prst="rect">
            <a:avLst/>
          </a:prstGeom>
          <a:noFill/>
          <a:ln/>
        </p:spPr>
        <p:txBody>
          <a:bodyPr wrap="square" lIns="0" tIns="0" rIns="0" bIns="0" rtlCol="0" anchor="ctr"/>
          <a:lstStyle/>
          <a:p>
            <a:pPr algn="ctr" indent="0" marL="0">
              <a:buNone/>
            </a:pPr>
            <a:r>
              <a:rPr lang="en-US" sz="3300" b="1" dirty="0">
                <a:solidFill>
                  <a:srgbClr val="F59E0B"/>
                </a:solidFill>
                <a:latin typeface="Cambria" pitchFamily="34" charset="0"/>
                <a:ea typeface="Cambria" pitchFamily="34" charset="-122"/>
                <a:cs typeface="Cambria" pitchFamily="34" charset="-120"/>
              </a:rPr>
              <a:t>−30%</a:t>
            </a:r>
            <a:endParaRPr lang="en-US" sz="3300" dirty="0"/>
          </a:p>
        </p:txBody>
      </p:sp>
      <p:sp>
        <p:nvSpPr>
          <p:cNvPr id="9" name="Text 6"/>
          <p:cNvSpPr/>
          <p:nvPr/>
        </p:nvSpPr>
        <p:spPr>
          <a:xfrm>
            <a:off x="548640" y="3172968"/>
            <a:ext cx="196596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spoilage</a:t>
            </a:r>
            <a:endParaRPr lang="en-US" sz="1300" dirty="0"/>
          </a:p>
        </p:txBody>
      </p:sp>
      <p:sp>
        <p:nvSpPr>
          <p:cNvPr id="10" name="Text 7"/>
          <p:cNvSpPr/>
          <p:nvPr/>
        </p:nvSpPr>
        <p:spPr>
          <a:xfrm>
            <a:off x="658368" y="3447288"/>
            <a:ext cx="1746504" cy="457200"/>
          </a:xfrm>
          <a:prstGeom prst="rect">
            <a:avLst/>
          </a:prstGeom>
          <a:noFill/>
          <a:ln/>
        </p:spPr>
        <p:txBody>
          <a:bodyPr wrap="square" lIns="0" tIns="0" rIns="0" bIns="0" rtlCol="0" anchor="ctr"/>
          <a:lstStyle/>
          <a:p>
            <a:pPr algn="ctr" indent="0" marL="0">
              <a:buNone/>
            </a:pPr>
            <a:r>
              <a:rPr lang="en-US" sz="980" dirty="0">
                <a:solidFill>
                  <a:srgbClr val="D1FAE5"/>
                </a:solidFill>
                <a:latin typeface="Calibri" pitchFamily="34" charset="0"/>
                <a:ea typeface="Calibri" pitchFamily="34" charset="-122"/>
                <a:cs typeface="Calibri" pitchFamily="34" charset="-120"/>
              </a:rPr>
              <a:t>Fewer expired fresh items thrown away</a:t>
            </a:r>
            <a:endParaRPr lang="en-US" sz="980" dirty="0"/>
          </a:p>
        </p:txBody>
      </p:sp>
      <p:sp>
        <p:nvSpPr>
          <p:cNvPr id="11" name="Shape 8"/>
          <p:cNvSpPr/>
          <p:nvPr/>
        </p:nvSpPr>
        <p:spPr>
          <a:xfrm>
            <a:off x="2670048" y="1691640"/>
            <a:ext cx="1965960" cy="2286000"/>
          </a:xfrm>
          <a:prstGeom prst="roundRect">
            <a:avLst>
              <a:gd name="adj" fmla="val 4651"/>
            </a:avLst>
          </a:prstGeom>
          <a:solidFill>
            <a:srgbClr val="12603C"/>
          </a:solidFill>
          <a:ln/>
          <a:effectLst>
            <a:outerShdw sx="100000" sy="100000" kx="0" ky="0" algn="bl" rotWithShape="0" blurRad="88900" dist="38100" dir="5400000">
              <a:srgbClr val="000000">
                <a:alpha val="12000"/>
              </a:srgbClr>
            </a:outerShdw>
          </a:effectLst>
        </p:spPr>
      </p:sp>
      <p:sp>
        <p:nvSpPr>
          <p:cNvPr id="12" name="Shape 9"/>
          <p:cNvSpPr/>
          <p:nvPr/>
        </p:nvSpPr>
        <p:spPr>
          <a:xfrm>
            <a:off x="3351276" y="1920240"/>
            <a:ext cx="603504" cy="603504"/>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13" name="Image 1" descr="preencoded.png">    </p:cNvPr>
          <p:cNvPicPr>
            <a:picLocks noChangeAspect="1"/>
          </p:cNvPicPr>
          <p:nvPr/>
        </p:nvPicPr>
        <p:blipFill>
          <a:blip r:embed="rId2"/>
          <a:stretch>
            <a:fillRect/>
          </a:stretch>
        </p:blipFill>
        <p:spPr>
          <a:xfrm>
            <a:off x="3508187" y="2077151"/>
            <a:ext cx="289682" cy="289682"/>
          </a:xfrm>
          <a:prstGeom prst="rect">
            <a:avLst/>
          </a:prstGeom>
        </p:spPr>
      </p:pic>
      <p:sp>
        <p:nvSpPr>
          <p:cNvPr id="14" name="Text 10"/>
          <p:cNvSpPr/>
          <p:nvPr/>
        </p:nvSpPr>
        <p:spPr>
          <a:xfrm>
            <a:off x="2670048" y="2651760"/>
            <a:ext cx="1965960" cy="548640"/>
          </a:xfrm>
          <a:prstGeom prst="rect">
            <a:avLst/>
          </a:prstGeom>
          <a:noFill/>
          <a:ln/>
        </p:spPr>
        <p:txBody>
          <a:bodyPr wrap="square" lIns="0" tIns="0" rIns="0" bIns="0" rtlCol="0" anchor="ctr"/>
          <a:lstStyle/>
          <a:p>
            <a:pPr algn="ctr" indent="0" marL="0">
              <a:buNone/>
            </a:pPr>
            <a:r>
              <a:rPr lang="en-US" sz="3300" b="1" dirty="0">
                <a:solidFill>
                  <a:srgbClr val="F59E0B"/>
                </a:solidFill>
                <a:latin typeface="Cambria" pitchFamily="34" charset="0"/>
                <a:ea typeface="Cambria" pitchFamily="34" charset="-122"/>
                <a:cs typeface="Cambria" pitchFamily="34" charset="-120"/>
              </a:rPr>
              <a:t>−40%</a:t>
            </a:r>
            <a:endParaRPr lang="en-US" sz="3300" dirty="0"/>
          </a:p>
        </p:txBody>
      </p:sp>
      <p:sp>
        <p:nvSpPr>
          <p:cNvPr id="15" name="Text 11"/>
          <p:cNvSpPr/>
          <p:nvPr/>
        </p:nvSpPr>
        <p:spPr>
          <a:xfrm>
            <a:off x="2670048" y="3172968"/>
            <a:ext cx="196596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stockouts</a:t>
            </a:r>
            <a:endParaRPr lang="en-US" sz="1300" dirty="0"/>
          </a:p>
        </p:txBody>
      </p:sp>
      <p:sp>
        <p:nvSpPr>
          <p:cNvPr id="16" name="Text 12"/>
          <p:cNvSpPr/>
          <p:nvPr/>
        </p:nvSpPr>
        <p:spPr>
          <a:xfrm>
            <a:off x="2779776" y="3447288"/>
            <a:ext cx="1746504" cy="457200"/>
          </a:xfrm>
          <a:prstGeom prst="rect">
            <a:avLst/>
          </a:prstGeom>
          <a:noFill/>
          <a:ln/>
        </p:spPr>
        <p:txBody>
          <a:bodyPr wrap="square" lIns="0" tIns="0" rIns="0" bIns="0" rtlCol="0" anchor="ctr"/>
          <a:lstStyle/>
          <a:p>
            <a:pPr algn="ctr" indent="0" marL="0">
              <a:buNone/>
            </a:pPr>
            <a:r>
              <a:rPr lang="en-US" sz="980" dirty="0">
                <a:solidFill>
                  <a:srgbClr val="D1FAE5"/>
                </a:solidFill>
                <a:latin typeface="Calibri" pitchFamily="34" charset="0"/>
                <a:ea typeface="Calibri" pitchFamily="34" charset="-122"/>
                <a:cs typeface="Calibri" pitchFamily="34" charset="-120"/>
              </a:rPr>
              <a:t>Popular items stay on the shelf</a:t>
            </a:r>
            <a:endParaRPr lang="en-US" sz="980" dirty="0"/>
          </a:p>
        </p:txBody>
      </p:sp>
      <p:sp>
        <p:nvSpPr>
          <p:cNvPr id="17" name="Shape 13"/>
          <p:cNvSpPr/>
          <p:nvPr/>
        </p:nvSpPr>
        <p:spPr>
          <a:xfrm>
            <a:off x="4791456" y="1691640"/>
            <a:ext cx="1965960" cy="2286000"/>
          </a:xfrm>
          <a:prstGeom prst="roundRect">
            <a:avLst>
              <a:gd name="adj" fmla="val 4651"/>
            </a:avLst>
          </a:prstGeom>
          <a:solidFill>
            <a:srgbClr val="12603C"/>
          </a:solidFill>
          <a:ln/>
          <a:effectLst>
            <a:outerShdw sx="100000" sy="100000" kx="0" ky="0" algn="bl" rotWithShape="0" blurRad="88900" dist="38100" dir="5400000">
              <a:srgbClr val="000000">
                <a:alpha val="12000"/>
              </a:srgbClr>
            </a:outerShdw>
          </a:effectLst>
        </p:spPr>
      </p:sp>
      <p:sp>
        <p:nvSpPr>
          <p:cNvPr id="18" name="Shape 14"/>
          <p:cNvSpPr/>
          <p:nvPr/>
        </p:nvSpPr>
        <p:spPr>
          <a:xfrm>
            <a:off x="5472684" y="1920240"/>
            <a:ext cx="603504" cy="603504"/>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19" name="Image 2" descr="preencoded.png">    </p:cNvPr>
          <p:cNvPicPr>
            <a:picLocks noChangeAspect="1"/>
          </p:cNvPicPr>
          <p:nvPr/>
        </p:nvPicPr>
        <p:blipFill>
          <a:blip r:embed="rId3"/>
          <a:stretch>
            <a:fillRect/>
          </a:stretch>
        </p:blipFill>
        <p:spPr>
          <a:xfrm>
            <a:off x="5629595" y="2077151"/>
            <a:ext cx="289682" cy="289682"/>
          </a:xfrm>
          <a:prstGeom prst="rect">
            <a:avLst/>
          </a:prstGeom>
        </p:spPr>
      </p:pic>
      <p:sp>
        <p:nvSpPr>
          <p:cNvPr id="20" name="Text 15"/>
          <p:cNvSpPr/>
          <p:nvPr/>
        </p:nvSpPr>
        <p:spPr>
          <a:xfrm>
            <a:off x="4791456" y="2651760"/>
            <a:ext cx="1965960" cy="548640"/>
          </a:xfrm>
          <a:prstGeom prst="rect">
            <a:avLst/>
          </a:prstGeom>
          <a:noFill/>
          <a:ln/>
        </p:spPr>
        <p:txBody>
          <a:bodyPr wrap="square" lIns="0" tIns="0" rIns="0" bIns="0" rtlCol="0" anchor="ctr"/>
          <a:lstStyle/>
          <a:p>
            <a:pPr algn="ctr" indent="0" marL="0">
              <a:buNone/>
            </a:pPr>
            <a:r>
              <a:rPr lang="en-US" sz="3300" b="1" dirty="0">
                <a:solidFill>
                  <a:srgbClr val="F59E0B"/>
                </a:solidFill>
                <a:latin typeface="Cambria" pitchFamily="34" charset="0"/>
                <a:ea typeface="Cambria" pitchFamily="34" charset="-122"/>
                <a:cs typeface="Cambria" pitchFamily="34" charset="-120"/>
              </a:rPr>
              <a:t>+12%</a:t>
            </a:r>
            <a:endParaRPr lang="en-US" sz="3300" dirty="0"/>
          </a:p>
        </p:txBody>
      </p:sp>
      <p:sp>
        <p:nvSpPr>
          <p:cNvPr id="21" name="Text 16"/>
          <p:cNvSpPr/>
          <p:nvPr/>
        </p:nvSpPr>
        <p:spPr>
          <a:xfrm>
            <a:off x="4791456" y="3172968"/>
            <a:ext cx="196596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margin</a:t>
            </a:r>
            <a:endParaRPr lang="en-US" sz="1300" dirty="0"/>
          </a:p>
        </p:txBody>
      </p:sp>
      <p:sp>
        <p:nvSpPr>
          <p:cNvPr id="22" name="Text 17"/>
          <p:cNvSpPr/>
          <p:nvPr/>
        </p:nvSpPr>
        <p:spPr>
          <a:xfrm>
            <a:off x="4901184" y="3447288"/>
            <a:ext cx="1746504" cy="457200"/>
          </a:xfrm>
          <a:prstGeom prst="rect">
            <a:avLst/>
          </a:prstGeom>
          <a:noFill/>
          <a:ln/>
        </p:spPr>
        <p:txBody>
          <a:bodyPr wrap="square" lIns="0" tIns="0" rIns="0" bIns="0" rtlCol="0" anchor="ctr"/>
          <a:lstStyle/>
          <a:p>
            <a:pPr algn="ctr" indent="0" marL="0">
              <a:buNone/>
            </a:pPr>
            <a:r>
              <a:rPr lang="en-US" sz="980" dirty="0">
                <a:solidFill>
                  <a:srgbClr val="D1FAE5"/>
                </a:solidFill>
                <a:latin typeface="Calibri" pitchFamily="34" charset="0"/>
                <a:ea typeface="Calibri" pitchFamily="34" charset="-122"/>
                <a:cs typeface="Calibri" pitchFamily="34" charset="-120"/>
              </a:rPr>
              <a:t>Working capital freed from dead stock</a:t>
            </a:r>
            <a:endParaRPr lang="en-US" sz="980" dirty="0"/>
          </a:p>
        </p:txBody>
      </p:sp>
      <p:sp>
        <p:nvSpPr>
          <p:cNvPr id="23" name="Shape 18"/>
          <p:cNvSpPr/>
          <p:nvPr/>
        </p:nvSpPr>
        <p:spPr>
          <a:xfrm>
            <a:off x="6912864" y="1691640"/>
            <a:ext cx="1965960" cy="2286000"/>
          </a:xfrm>
          <a:prstGeom prst="roundRect">
            <a:avLst>
              <a:gd name="adj" fmla="val 4651"/>
            </a:avLst>
          </a:prstGeom>
          <a:solidFill>
            <a:srgbClr val="12603C"/>
          </a:solidFill>
          <a:ln/>
          <a:effectLst>
            <a:outerShdw sx="100000" sy="100000" kx="0" ky="0" algn="bl" rotWithShape="0" blurRad="88900" dist="38100" dir="5400000">
              <a:srgbClr val="000000">
                <a:alpha val="12000"/>
              </a:srgbClr>
            </a:outerShdw>
          </a:effectLst>
        </p:spPr>
      </p:sp>
      <p:sp>
        <p:nvSpPr>
          <p:cNvPr id="24" name="Shape 19"/>
          <p:cNvSpPr/>
          <p:nvPr/>
        </p:nvSpPr>
        <p:spPr>
          <a:xfrm>
            <a:off x="7594092" y="1920240"/>
            <a:ext cx="603504" cy="603504"/>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25" name="Image 3" descr="preencoded.png">    </p:cNvPr>
          <p:cNvPicPr>
            <a:picLocks noChangeAspect="1"/>
          </p:cNvPicPr>
          <p:nvPr/>
        </p:nvPicPr>
        <p:blipFill>
          <a:blip r:embed="rId4"/>
          <a:stretch>
            <a:fillRect/>
          </a:stretch>
        </p:blipFill>
        <p:spPr>
          <a:xfrm>
            <a:off x="7751003" y="2077151"/>
            <a:ext cx="289682" cy="289682"/>
          </a:xfrm>
          <a:prstGeom prst="rect">
            <a:avLst/>
          </a:prstGeom>
        </p:spPr>
      </p:pic>
      <p:sp>
        <p:nvSpPr>
          <p:cNvPr id="26" name="Text 20"/>
          <p:cNvSpPr/>
          <p:nvPr/>
        </p:nvSpPr>
        <p:spPr>
          <a:xfrm>
            <a:off x="6912864" y="2651760"/>
            <a:ext cx="1965960" cy="548640"/>
          </a:xfrm>
          <a:prstGeom prst="rect">
            <a:avLst/>
          </a:prstGeom>
          <a:noFill/>
          <a:ln/>
        </p:spPr>
        <p:txBody>
          <a:bodyPr wrap="square" lIns="0" tIns="0" rIns="0" bIns="0" rtlCol="0" anchor="ctr"/>
          <a:lstStyle/>
          <a:p>
            <a:pPr algn="ctr" indent="0" marL="0">
              <a:buNone/>
            </a:pPr>
            <a:r>
              <a:rPr lang="en-US" sz="3300" b="1" dirty="0">
                <a:solidFill>
                  <a:srgbClr val="F59E0B"/>
                </a:solidFill>
                <a:latin typeface="Cambria" pitchFamily="34" charset="0"/>
                <a:ea typeface="Cambria" pitchFamily="34" charset="-122"/>
                <a:cs typeface="Cambria" pitchFamily="34" charset="-120"/>
              </a:rPr>
              <a:t>&lt;2 min</a:t>
            </a:r>
            <a:endParaRPr lang="en-US" sz="3300" dirty="0"/>
          </a:p>
        </p:txBody>
      </p:sp>
      <p:sp>
        <p:nvSpPr>
          <p:cNvPr id="27" name="Text 21"/>
          <p:cNvSpPr/>
          <p:nvPr/>
        </p:nvSpPr>
        <p:spPr>
          <a:xfrm>
            <a:off x="6912864" y="3172968"/>
            <a:ext cx="196596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to forecast</a:t>
            </a:r>
            <a:endParaRPr lang="en-US" sz="1300" dirty="0"/>
          </a:p>
        </p:txBody>
      </p:sp>
      <p:sp>
        <p:nvSpPr>
          <p:cNvPr id="28" name="Text 22"/>
          <p:cNvSpPr/>
          <p:nvPr/>
        </p:nvSpPr>
        <p:spPr>
          <a:xfrm>
            <a:off x="7022592" y="3447288"/>
            <a:ext cx="1746504" cy="457200"/>
          </a:xfrm>
          <a:prstGeom prst="rect">
            <a:avLst/>
          </a:prstGeom>
          <a:noFill/>
          <a:ln/>
        </p:spPr>
        <p:txBody>
          <a:bodyPr wrap="square" lIns="0" tIns="0" rIns="0" bIns="0" rtlCol="0" anchor="ctr"/>
          <a:lstStyle/>
          <a:p>
            <a:pPr algn="ctr" indent="0" marL="0">
              <a:buNone/>
            </a:pPr>
            <a:r>
              <a:rPr lang="en-US" sz="980" dirty="0">
                <a:solidFill>
                  <a:srgbClr val="D1FAE5"/>
                </a:solidFill>
                <a:latin typeface="Calibri" pitchFamily="34" charset="0"/>
                <a:ea typeface="Calibri" pitchFamily="34" charset="-122"/>
                <a:cs typeface="Calibri" pitchFamily="34" charset="-120"/>
              </a:rPr>
              <a:t>All products, all stores, every morning</a:t>
            </a:r>
            <a:endParaRPr lang="en-US" sz="980" dirty="0"/>
          </a:p>
        </p:txBody>
      </p:sp>
      <p:sp>
        <p:nvSpPr>
          <p:cNvPr id="29" name="Text 23"/>
          <p:cNvSpPr/>
          <p:nvPr/>
        </p:nvSpPr>
        <p:spPr>
          <a:xfrm>
            <a:off x="548640" y="4160520"/>
            <a:ext cx="8229600" cy="320040"/>
          </a:xfrm>
          <a:prstGeom prst="rect">
            <a:avLst/>
          </a:prstGeom>
          <a:noFill/>
          <a:ln/>
        </p:spPr>
        <p:txBody>
          <a:bodyPr wrap="square" lIns="0" tIns="0" rIns="0" bIns="0" rtlCol="0" anchor="ctr"/>
          <a:lstStyle/>
          <a:p>
            <a:pPr algn="ctr" indent="0" marL="0">
              <a:buNone/>
            </a:pPr>
            <a:r>
              <a:rPr lang="en-US" sz="1050" i="1" dirty="0">
                <a:solidFill>
                  <a:srgbClr val="9FE7CF"/>
                </a:solidFill>
                <a:latin typeface="Calibri" pitchFamily="34" charset="0"/>
                <a:ea typeface="Calibri" pitchFamily="34" charset="-122"/>
                <a:cs typeface="Calibri" pitchFamily="34" charset="-120"/>
              </a:rPr>
              <a:t>Illustrative figures based on published grocery-retail benchmarks for forecast-driven inventory.</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lIns="0" tIns="0" rIns="0" bIns="0" rtlCol="0" anchor="ctr"/>
          <a:lstStyle/>
          <a:p>
            <a:pPr indent="0" marL="0">
              <a:buNone/>
            </a:pPr>
            <a:r>
              <a:rPr lang="en-US" sz="3400" b="1" dirty="0">
                <a:solidFill>
                  <a:srgbClr val="0F5132"/>
                </a:solidFill>
                <a:latin typeface="Cambria" pitchFamily="34" charset="0"/>
                <a:ea typeface="Cambria" pitchFamily="34" charset="-122"/>
                <a:cs typeface="Cambria" pitchFamily="34" charset="-120"/>
              </a:rPr>
              <a:t>Limitations &amp; Future Work</a:t>
            </a:r>
            <a:endParaRPr lang="en-US" sz="3400" dirty="0"/>
          </a:p>
        </p:txBody>
      </p:sp>
      <p:sp>
        <p:nvSpPr>
          <p:cNvPr id="3" name="Shape 1"/>
          <p:cNvSpPr/>
          <p:nvPr/>
        </p:nvSpPr>
        <p:spPr>
          <a:xfrm>
            <a:off x="548640" y="1280160"/>
            <a:ext cx="3931920" cy="3200400"/>
          </a:xfrm>
          <a:prstGeom prst="roundRect">
            <a:avLst>
              <a:gd name="adj" fmla="val 2571"/>
            </a:avLst>
          </a:prstGeom>
          <a:solidFill>
            <a:srgbClr val="F6FBF8"/>
          </a:solidFill>
          <a:ln/>
          <a:effectLst>
            <a:outerShdw sx="100000" sy="100000" kx="0" ky="0" algn="bl" rotWithShape="0" blurRad="88900" dist="38100" dir="5400000">
              <a:srgbClr val="000000">
                <a:alpha val="12000"/>
              </a:srgbClr>
            </a:outerShdw>
          </a:effectLst>
        </p:spPr>
      </p:sp>
      <p:sp>
        <p:nvSpPr>
          <p:cNvPr id="4" name="Shape 2"/>
          <p:cNvSpPr/>
          <p:nvPr/>
        </p:nvSpPr>
        <p:spPr>
          <a:xfrm>
            <a:off x="777240" y="1508760"/>
            <a:ext cx="548640" cy="548640"/>
          </a:xfrm>
          <a:prstGeom prst="ellipse">
            <a:avLst/>
          </a:prstGeom>
          <a:solidFill>
            <a:srgbClr val="F59E0B"/>
          </a:solidFill>
          <a:ln/>
          <a:effectLst>
            <a:outerShdw sx="100000" sy="100000" kx="0" ky="0" algn="bl" rotWithShape="0" blurRad="88900" dist="381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919886" y="1651406"/>
            <a:ext cx="263347" cy="263347"/>
          </a:xfrm>
          <a:prstGeom prst="rect">
            <a:avLst/>
          </a:prstGeom>
        </p:spPr>
      </p:pic>
      <p:sp>
        <p:nvSpPr>
          <p:cNvPr id="6" name="Text 3"/>
          <p:cNvSpPr/>
          <p:nvPr/>
        </p:nvSpPr>
        <p:spPr>
          <a:xfrm>
            <a:off x="1463040" y="1572768"/>
            <a:ext cx="2834640" cy="411480"/>
          </a:xfrm>
          <a:prstGeom prst="rect">
            <a:avLst/>
          </a:prstGeom>
          <a:noFill/>
          <a:ln/>
        </p:spPr>
        <p:txBody>
          <a:bodyPr wrap="square" lIns="0" tIns="0" rIns="0" bIns="0" rtlCol="0" anchor="ctr"/>
          <a:lstStyle/>
          <a:p>
            <a:pPr indent="0" marL="0">
              <a:buNone/>
            </a:pPr>
            <a:r>
              <a:rPr lang="en-US" sz="1600" b="1" dirty="0">
                <a:solidFill>
                  <a:srgbClr val="0F5132"/>
                </a:solidFill>
                <a:latin typeface="Calibri" pitchFamily="34" charset="0"/>
                <a:ea typeface="Calibri" pitchFamily="34" charset="-122"/>
                <a:cs typeface="Calibri" pitchFamily="34" charset="-120"/>
              </a:rPr>
              <a:t>Honest limitations</a:t>
            </a:r>
            <a:endParaRPr lang="en-US" sz="1600" dirty="0"/>
          </a:p>
        </p:txBody>
      </p:sp>
      <p:sp>
        <p:nvSpPr>
          <p:cNvPr id="7" name="Text 4"/>
          <p:cNvSpPr/>
          <p:nvPr/>
        </p:nvSpPr>
        <p:spPr>
          <a:xfrm>
            <a:off x="777240" y="2240280"/>
            <a:ext cx="3520440" cy="2103120"/>
          </a:xfrm>
          <a:prstGeom prst="rect">
            <a:avLst/>
          </a:prstGeom>
          <a:noFill/>
          <a:ln/>
        </p:spPr>
        <p:txBody>
          <a:bodyPr wrap="square" lIns="0" tIns="0" rIns="0" bIns="0" rtlCol="0" anchor="ctr"/>
          <a:lstStyle/>
          <a:p>
            <a:pPr marL="342900" indent="-342900">
              <a:spcAft>
                <a:spcPts val="900"/>
              </a:spcAft>
              <a:buSzPct val="100000"/>
              <a:buChar char="•"/>
            </a:pPr>
            <a:r>
              <a:rPr lang="en-US" sz="1200" dirty="0">
                <a:solidFill>
                  <a:srgbClr val="1E293B"/>
                </a:solidFill>
                <a:latin typeface="Calibri" pitchFamily="34" charset="0"/>
                <a:ea typeface="Calibri" pitchFamily="34" charset="-122"/>
                <a:cs typeface="Calibri" pitchFamily="34" charset="-120"/>
              </a:rPr>
              <a:t>Synthetic data — real POS data will be messier</a:t>
            </a:r>
            <a:endParaRPr lang="en-US" sz="1200" dirty="0"/>
          </a:p>
          <a:p>
            <a:pPr marL="342900" indent="-342900">
              <a:spcAft>
                <a:spcPts val="900"/>
              </a:spcAft>
              <a:buSzPct val="100000"/>
              <a:buChar char="•"/>
            </a:pPr>
            <a:r>
              <a:rPr lang="en-US" sz="1200" dirty="0">
                <a:solidFill>
                  <a:srgbClr val="1E293B"/>
                </a:solidFill>
                <a:latin typeface="Calibri" pitchFamily="34" charset="0"/>
                <a:ea typeface="Calibri" pitchFamily="34" charset="-122"/>
                <a:cs typeface="Calibri" pitchFamily="34" charset="-120"/>
              </a:rPr>
              <a:t>Can't predict true black-swan shocks (e.g. sudden lockdown)</a:t>
            </a:r>
            <a:endParaRPr lang="en-US" sz="1200" dirty="0"/>
          </a:p>
          <a:p>
            <a:pPr marL="342900" indent="-342900">
              <a:spcAft>
                <a:spcPts val="900"/>
              </a:spcAft>
              <a:buSzPct val="100000"/>
              <a:buChar char="•"/>
            </a:pPr>
            <a:r>
              <a:rPr lang="en-US" sz="1200" dirty="0">
                <a:solidFill>
                  <a:srgbClr val="1E293B"/>
                </a:solidFill>
                <a:latin typeface="Calibri" pitchFamily="34" charset="0"/>
                <a:ea typeface="Calibri" pitchFamily="34" charset="-122"/>
                <a:cs typeface="Calibri" pitchFamily="34" charset="-120"/>
              </a:rPr>
              <a:t>New products have no history (cold-start)</a:t>
            </a:r>
            <a:endParaRPr lang="en-US" sz="1200" dirty="0"/>
          </a:p>
          <a:p>
            <a:pPr marL="342900" indent="-342900">
              <a:spcAft>
                <a:spcPts val="900"/>
              </a:spcAft>
              <a:buSzPct val="100000"/>
              <a:buChar char="•"/>
            </a:pPr>
            <a:r>
              <a:rPr lang="en-US" sz="1200" dirty="0">
                <a:solidFill>
                  <a:srgbClr val="1E293B"/>
                </a:solidFill>
                <a:latin typeface="Calibri" pitchFamily="34" charset="0"/>
                <a:ea typeface="Calibri" pitchFamily="34" charset="-122"/>
                <a:cs typeface="Calibri" pitchFamily="34" charset="-120"/>
              </a:rPr>
              <a:t>Needs periodic retraining as habits shift</a:t>
            </a:r>
            <a:endParaRPr lang="en-US" sz="1200" dirty="0"/>
          </a:p>
          <a:p>
            <a:pPr marL="342900" indent="-342900">
              <a:spcAft>
                <a:spcPts val="900"/>
              </a:spcAft>
              <a:buSzPct val="100000"/>
              <a:buChar char="•"/>
            </a:pPr>
            <a:r>
              <a:rPr lang="en-US" sz="1200" dirty="0">
                <a:solidFill>
                  <a:srgbClr val="1E293B"/>
                </a:solidFill>
                <a:latin typeface="Calibri" pitchFamily="34" charset="0"/>
                <a:ea typeface="Calibri" pitchFamily="34" charset="-122"/>
                <a:cs typeface="Calibri" pitchFamily="34" charset="-120"/>
              </a:rPr>
              <a:t>Forecasts demand, not supplier lead-time delays</a:t>
            </a:r>
            <a:endParaRPr lang="en-US" sz="1200" dirty="0"/>
          </a:p>
        </p:txBody>
      </p:sp>
      <p:sp>
        <p:nvSpPr>
          <p:cNvPr id="8" name="Shape 5"/>
          <p:cNvSpPr/>
          <p:nvPr/>
        </p:nvSpPr>
        <p:spPr>
          <a:xfrm>
            <a:off x="4663440" y="1280160"/>
            <a:ext cx="3931920" cy="3200400"/>
          </a:xfrm>
          <a:prstGeom prst="roundRect">
            <a:avLst>
              <a:gd name="adj" fmla="val 2571"/>
            </a:avLst>
          </a:prstGeom>
          <a:solidFill>
            <a:srgbClr val="0F5132"/>
          </a:solidFill>
          <a:ln/>
          <a:effectLst>
            <a:outerShdw sx="100000" sy="100000" kx="0" ky="0" algn="bl" rotWithShape="0" blurRad="88900" dist="38100" dir="5400000">
              <a:srgbClr val="000000">
                <a:alpha val="12000"/>
              </a:srgbClr>
            </a:outerShdw>
          </a:effectLst>
        </p:spPr>
      </p:sp>
      <p:sp>
        <p:nvSpPr>
          <p:cNvPr id="9" name="Shape 6"/>
          <p:cNvSpPr/>
          <p:nvPr/>
        </p:nvSpPr>
        <p:spPr>
          <a:xfrm>
            <a:off x="4892040" y="1508760"/>
            <a:ext cx="548640" cy="548640"/>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10" name="Image 1" descr="preencoded.png">    </p:cNvPr>
          <p:cNvPicPr>
            <a:picLocks noChangeAspect="1"/>
          </p:cNvPicPr>
          <p:nvPr/>
        </p:nvPicPr>
        <p:blipFill>
          <a:blip r:embed="rId2"/>
          <a:stretch>
            <a:fillRect/>
          </a:stretch>
        </p:blipFill>
        <p:spPr>
          <a:xfrm>
            <a:off x="5034686" y="1651406"/>
            <a:ext cx="263347" cy="263347"/>
          </a:xfrm>
          <a:prstGeom prst="rect">
            <a:avLst/>
          </a:prstGeom>
        </p:spPr>
      </p:pic>
      <p:sp>
        <p:nvSpPr>
          <p:cNvPr id="11" name="Text 7"/>
          <p:cNvSpPr/>
          <p:nvPr/>
        </p:nvSpPr>
        <p:spPr>
          <a:xfrm>
            <a:off x="5577840" y="1572768"/>
            <a:ext cx="283464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Future work</a:t>
            </a:r>
            <a:endParaRPr lang="en-US" sz="1600" dirty="0"/>
          </a:p>
        </p:txBody>
      </p:sp>
      <p:sp>
        <p:nvSpPr>
          <p:cNvPr id="12" name="Text 8"/>
          <p:cNvSpPr/>
          <p:nvPr/>
        </p:nvSpPr>
        <p:spPr>
          <a:xfrm>
            <a:off x="4892040" y="2240280"/>
            <a:ext cx="3520440" cy="2103120"/>
          </a:xfrm>
          <a:prstGeom prst="rect">
            <a:avLst/>
          </a:prstGeom>
          <a:noFill/>
          <a:ln/>
        </p:spPr>
        <p:txBody>
          <a:bodyPr wrap="square" lIns="0" tIns="0" rIns="0" bIns="0" rtlCol="0" anchor="ctr"/>
          <a:lstStyle/>
          <a:p>
            <a:pPr marL="342900" indent="-342900">
              <a:spcAft>
                <a:spcPts val="900"/>
              </a:spcAft>
              <a:buSzPct val="100000"/>
              <a:buChar char="•"/>
            </a:pPr>
            <a:r>
              <a:rPr lang="en-US" sz="1200" dirty="0">
                <a:solidFill>
                  <a:srgbClr val="D1FAE5"/>
                </a:solidFill>
                <a:latin typeface="Calibri" pitchFamily="34" charset="0"/>
                <a:ea typeface="Calibri" pitchFamily="34" charset="-122"/>
                <a:cs typeface="Calibri" pitchFamily="34" charset="-120"/>
              </a:rPr>
              <a:t>Add a CNN to read product-shelf images for live stock counts</a:t>
            </a:r>
            <a:endParaRPr lang="en-US" sz="1200" dirty="0"/>
          </a:p>
          <a:p>
            <a:pPr marL="342900" indent="-342900">
              <a:spcAft>
                <a:spcPts val="900"/>
              </a:spcAft>
              <a:buSzPct val="100000"/>
              <a:buChar char="•"/>
            </a:pPr>
            <a:r>
              <a:rPr lang="en-US" sz="1200" dirty="0">
                <a:solidFill>
                  <a:srgbClr val="D1FAE5"/>
                </a:solidFill>
                <a:latin typeface="Calibri" pitchFamily="34" charset="0"/>
                <a:ea typeface="Calibri" pitchFamily="34" charset="-122"/>
                <a:cs typeface="Calibri" pitchFamily="34" charset="-120"/>
              </a:rPr>
              <a:t>Attention / Transformer model for longer horizons</a:t>
            </a:r>
            <a:endParaRPr lang="en-US" sz="1200" dirty="0"/>
          </a:p>
          <a:p>
            <a:pPr marL="342900" indent="-342900">
              <a:spcAft>
                <a:spcPts val="900"/>
              </a:spcAft>
              <a:buSzPct val="100000"/>
              <a:buChar char="•"/>
            </a:pPr>
            <a:r>
              <a:rPr lang="en-US" sz="1200" dirty="0">
                <a:solidFill>
                  <a:srgbClr val="D1FAE5"/>
                </a:solidFill>
                <a:latin typeface="Calibri" pitchFamily="34" charset="0"/>
                <a:ea typeface="Calibri" pitchFamily="34" charset="-122"/>
                <a:cs typeface="Calibri" pitchFamily="34" charset="-120"/>
              </a:rPr>
              <a:t>Auto-send purchase orders to suppliers via API</a:t>
            </a:r>
            <a:endParaRPr lang="en-US" sz="1200" dirty="0"/>
          </a:p>
          <a:p>
            <a:pPr marL="342900" indent="-342900">
              <a:spcAft>
                <a:spcPts val="900"/>
              </a:spcAft>
              <a:buSzPct val="100000"/>
              <a:buChar char="•"/>
            </a:pPr>
            <a:r>
              <a:rPr lang="en-US" sz="1200" dirty="0">
                <a:solidFill>
                  <a:srgbClr val="D1FAE5"/>
                </a:solidFill>
                <a:latin typeface="Calibri" pitchFamily="34" charset="0"/>
                <a:ea typeface="Calibri" pitchFamily="34" charset="-122"/>
                <a:cs typeface="Calibri" pitchFamily="34" charset="-120"/>
              </a:rPr>
              <a:t>Price &amp; promotion optimisation on top of demand</a:t>
            </a:r>
            <a:endParaRPr lang="en-US" sz="1200" dirty="0"/>
          </a:p>
          <a:p>
            <a:pPr marL="342900" indent="-342900">
              <a:spcAft>
                <a:spcPts val="900"/>
              </a:spcAft>
              <a:buSzPct val="100000"/>
              <a:buChar char="•"/>
            </a:pPr>
            <a:r>
              <a:rPr lang="en-US" sz="1200" dirty="0">
                <a:solidFill>
                  <a:srgbClr val="D1FAE5"/>
                </a:solidFill>
                <a:latin typeface="Calibri" pitchFamily="34" charset="0"/>
                <a:ea typeface="Calibri" pitchFamily="34" charset="-122"/>
                <a:cs typeface="Calibri" pitchFamily="34" charset="-120"/>
              </a:rPr>
              <a:t>Multi-store transfer learning for new branches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5132"/>
        </a:solidFill>
      </p:bgPr>
    </p:bg>
    <p:spTree>
      <p:nvGrpSpPr>
        <p:cNvPr id="1" name=""/>
        <p:cNvGrpSpPr/>
        <p:nvPr/>
      </p:nvGrpSpPr>
      <p:grpSpPr>
        <a:xfrm>
          <a:off x="0" y="0"/>
          <a:ext cx="0" cy="0"/>
          <a:chOff x="0" y="0"/>
          <a:chExt cx="0" cy="0"/>
        </a:xfrm>
      </p:grpSpPr>
      <p:sp>
        <p:nvSpPr>
          <p:cNvPr id="2" name="Shape 0"/>
          <p:cNvSpPr/>
          <p:nvPr/>
        </p:nvSpPr>
        <p:spPr>
          <a:xfrm>
            <a:off x="-914400" y="3291840"/>
            <a:ext cx="2743200" cy="2743200"/>
          </a:xfrm>
          <a:prstGeom prst="ellipse">
            <a:avLst/>
          </a:prstGeom>
          <a:solidFill>
            <a:srgbClr val="157347"/>
          </a:solidFill>
          <a:ln/>
        </p:spPr>
      </p:sp>
      <p:sp>
        <p:nvSpPr>
          <p:cNvPr id="3" name="Shape 1"/>
          <p:cNvSpPr/>
          <p:nvPr/>
        </p:nvSpPr>
        <p:spPr>
          <a:xfrm>
            <a:off x="7955280" y="-822960"/>
            <a:ext cx="2377440" cy="2377440"/>
          </a:xfrm>
          <a:prstGeom prst="ellipse">
            <a:avLst/>
          </a:prstGeom>
          <a:solidFill>
            <a:srgbClr val="14B8A6">
              <a:alpha val="45000"/>
            </a:srgbClr>
          </a:solidFill>
          <a:ln/>
        </p:spPr>
      </p:sp>
      <p:sp>
        <p:nvSpPr>
          <p:cNvPr id="4" name="Shape 2"/>
          <p:cNvSpPr/>
          <p:nvPr/>
        </p:nvSpPr>
        <p:spPr>
          <a:xfrm>
            <a:off x="548640" y="640080"/>
            <a:ext cx="868680" cy="868680"/>
          </a:xfrm>
          <a:prstGeom prst="ellipse">
            <a:avLst/>
          </a:prstGeom>
          <a:solidFill>
            <a:srgbClr val="14B8A6"/>
          </a:solidFill>
          <a:ln/>
          <a:effectLst>
            <a:outerShdw sx="100000" sy="100000" kx="0" ky="0" algn="bl" rotWithShape="0" blurRad="88900" dist="381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774497" y="865937"/>
            <a:ext cx="416966" cy="416966"/>
          </a:xfrm>
          <a:prstGeom prst="rect">
            <a:avLst/>
          </a:prstGeom>
        </p:spPr>
      </p:pic>
      <p:sp>
        <p:nvSpPr>
          <p:cNvPr id="6" name="Text 3"/>
          <p:cNvSpPr/>
          <p:nvPr/>
        </p:nvSpPr>
        <p:spPr>
          <a:xfrm>
            <a:off x="1600200" y="749808"/>
            <a:ext cx="6400800" cy="64008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sp>
        <p:nvSpPr>
          <p:cNvPr id="7" name="Text 4"/>
          <p:cNvSpPr/>
          <p:nvPr/>
        </p:nvSpPr>
        <p:spPr>
          <a:xfrm>
            <a:off x="640080" y="1828800"/>
            <a:ext cx="7863840" cy="1645920"/>
          </a:xfrm>
          <a:prstGeom prst="rect">
            <a:avLst/>
          </a:prstGeom>
          <a:noFill/>
          <a:ln/>
        </p:spPr>
        <p:txBody>
          <a:bodyPr wrap="square" lIns="0" tIns="0" rIns="0" bIns="0" rtlCol="0" anchor="ctr"/>
          <a:lstStyle/>
          <a:p>
            <a:pPr marL="342900" indent="-342900">
              <a:spcAft>
                <a:spcPts val="1200"/>
              </a:spcAft>
              <a:buSzPct val="100000"/>
              <a:buChar char="✓"/>
            </a:pPr>
            <a:r>
              <a:rPr lang="en-US" sz="1500" dirty="0">
                <a:solidFill>
                  <a:srgbClr val="D1FAE5"/>
                </a:solidFill>
                <a:latin typeface="Calibri" pitchFamily="34" charset="0"/>
                <a:ea typeface="Calibri" pitchFamily="34" charset="-122"/>
                <a:cs typeface="Calibri" pitchFamily="34" charset="-120"/>
              </a:rPr>
              <a:t>LSTM turns messy sales history into accurate demand forecasts (≈5% error, R² 0.86).</a:t>
            </a:r>
            <a:endParaRPr lang="en-US" sz="1500" dirty="0"/>
          </a:p>
          <a:p>
            <a:pPr marL="342900" indent="-342900">
              <a:spcAft>
                <a:spcPts val="1200"/>
              </a:spcAft>
              <a:buSzPct val="100000"/>
              <a:buChar char="✓"/>
            </a:pPr>
            <a:r>
              <a:rPr lang="en-US" sz="1500" dirty="0">
                <a:solidFill>
                  <a:srgbClr val="D1FAE5"/>
                </a:solidFill>
                <a:latin typeface="Calibri" pitchFamily="34" charset="0"/>
                <a:ea typeface="Calibri" pitchFamily="34" charset="-122"/>
                <a:cs typeface="Calibri" pitchFamily="34" charset="-120"/>
              </a:rPr>
              <a:t>A simple, explainable rule engine converts forecasts into Approve / Reorder / Urgent.</a:t>
            </a:r>
            <a:endParaRPr lang="en-US" sz="1500" dirty="0"/>
          </a:p>
          <a:p>
            <a:pPr marL="342900" indent="-342900">
              <a:spcAft>
                <a:spcPts val="1200"/>
              </a:spcAft>
              <a:buSzPct val="100000"/>
              <a:buChar char="✓"/>
            </a:pPr>
            <a:r>
              <a:rPr lang="en-US" sz="1500" dirty="0">
                <a:solidFill>
                  <a:srgbClr val="D1FAE5"/>
                </a:solidFill>
                <a:latin typeface="Calibri" pitchFamily="34" charset="0"/>
                <a:ea typeface="Calibri" pitchFamily="34" charset="-122"/>
                <a:cs typeface="Calibri" pitchFamily="34" charset="-120"/>
              </a:rPr>
              <a:t>Result: less waste, fewer stockouts, healthier margins — a clear business win.</a:t>
            </a:r>
            <a:endParaRPr lang="en-US" sz="1500" dirty="0"/>
          </a:p>
        </p:txBody>
      </p:sp>
      <p:sp>
        <p:nvSpPr>
          <p:cNvPr id="8" name="Text 5"/>
          <p:cNvSpPr/>
          <p:nvPr/>
        </p:nvSpPr>
        <p:spPr>
          <a:xfrm>
            <a:off x="640080" y="3886200"/>
            <a:ext cx="5486400" cy="548640"/>
          </a:xfrm>
          <a:prstGeom prst="rect">
            <a:avLst/>
          </a:prstGeom>
          <a:noFill/>
          <a:ln/>
        </p:spPr>
        <p:txBody>
          <a:bodyPr wrap="square" lIns="0" tIns="0" rIns="0" bIns="0" rtlCol="0" anchor="ctr"/>
          <a:lstStyle/>
          <a:p>
            <a:pPr indent="0" marL="0">
              <a:buNone/>
            </a:pPr>
            <a:r>
              <a:rPr lang="en-US" sz="2600" b="1" dirty="0">
                <a:solidFill>
                  <a:srgbClr val="F59E0B"/>
                </a:solidFill>
                <a:latin typeface="Cambria" pitchFamily="34" charset="0"/>
                <a:ea typeface="Cambria" pitchFamily="34" charset="-122"/>
                <a:cs typeface="Cambria" pitchFamily="34" charset="-120"/>
              </a:rPr>
              <a:t>Thank you  —  Questions?</a:t>
            </a:r>
            <a:endParaRPr lang="en-US" sz="2600" dirty="0"/>
          </a:p>
        </p:txBody>
      </p:sp>
      <p:sp>
        <p:nvSpPr>
          <p:cNvPr id="9" name="Text 6"/>
          <p:cNvSpPr/>
          <p:nvPr/>
        </p:nvSpPr>
        <p:spPr>
          <a:xfrm>
            <a:off x="658368" y="4526280"/>
            <a:ext cx="7315200" cy="320040"/>
          </a:xfrm>
          <a:prstGeom prst="rect">
            <a:avLst/>
          </a:prstGeom>
          <a:noFill/>
          <a:ln/>
        </p:spPr>
        <p:txBody>
          <a:bodyPr wrap="square" lIns="0" tIns="0" rIns="0" bIns="0" rtlCol="0" anchor="ctr"/>
          <a:lstStyle/>
          <a:p>
            <a:pPr indent="0" marL="0">
              <a:buNone/>
            </a:pPr>
            <a:r>
              <a:rPr lang="en-US" sz="1200" dirty="0">
                <a:solidFill>
                  <a:srgbClr val="9FE7CF"/>
                </a:solidFill>
                <a:latin typeface="Calibri" pitchFamily="34" charset="0"/>
                <a:ea typeface="Calibri" pitchFamily="34" charset="-122"/>
                <a:cs typeface="Calibri" pitchFamily="34" charset="-120"/>
              </a:rPr>
              <a:t>StockWise AI  ·  Deep Learning Group Project  ·  Team of 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StockWise AI</dc:title>
  <dc:subject>PptxGenJS Presentation</dc:subject>
  <dc:creator>Krishna &amp; Team</dc:creator>
  <cp:lastModifiedBy>Krishna &amp; Team</cp:lastModifiedBy>
  <cp:revision>1</cp:revision>
  <dcterms:created xsi:type="dcterms:W3CDTF">2026-06-23T08:28:29Z</dcterms:created>
  <dcterms:modified xsi:type="dcterms:W3CDTF">2026-06-23T08:28:29Z</dcterms:modified>
</cp:coreProperties>
</file>